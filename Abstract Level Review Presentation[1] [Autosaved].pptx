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9"/>
  </p:notesMasterIdLst>
  <p:handoutMasterIdLst>
    <p:handoutMasterId r:id="rId20"/>
  </p:handoutMasterIdLst>
  <p:sldIdLst>
    <p:sldId id="256" r:id="rId2"/>
    <p:sldId id="257" r:id="rId3"/>
    <p:sldId id="258" r:id="rId4"/>
    <p:sldId id="259" r:id="rId5"/>
    <p:sldId id="265" r:id="rId6"/>
    <p:sldId id="260" r:id="rId7"/>
    <p:sldId id="267" r:id="rId8"/>
    <p:sldId id="266" r:id="rId9"/>
    <p:sldId id="269" r:id="rId10"/>
    <p:sldId id="261" r:id="rId11"/>
    <p:sldId id="272" r:id="rId12"/>
    <p:sldId id="262" r:id="rId13"/>
    <p:sldId id="273" r:id="rId14"/>
    <p:sldId id="271" r:id="rId15"/>
    <p:sldId id="263" r:id="rId16"/>
    <p:sldId id="270"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6" d="100"/>
          <a:sy n="76" d="100"/>
        </p:scale>
        <p:origin x="946" y="7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92F053-65F9-A0A5-CE90-B80640DEEF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62ED75F-81BD-BAC2-CBE3-1873149B87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0F3A9A-AD8E-48B6-B5D3-F09F0765AD5D}" type="datetimeFigureOut">
              <a:rPr lang="en-IN" smtClean="0"/>
              <a:t>12-10-2025</a:t>
            </a:fld>
            <a:endParaRPr lang="en-IN"/>
          </a:p>
        </p:txBody>
      </p:sp>
      <p:sp>
        <p:nvSpPr>
          <p:cNvPr id="4" name="Footer Placeholder 3">
            <a:extLst>
              <a:ext uri="{FF2B5EF4-FFF2-40B4-BE49-F238E27FC236}">
                <a16:creationId xmlns:a16="http://schemas.microsoft.com/office/drawing/2014/main" id="{AE5B6B0F-CF07-9A9B-9298-C1F9BF57D3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FBCEFBF-B731-6D89-8205-4903D14DDB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8B6C1D-1046-4A6D-80B1-1C6B3A26471E}" type="slidenum">
              <a:rPr lang="en-IN" smtClean="0"/>
              <a:t>‹#›</a:t>
            </a:fld>
            <a:endParaRPr lang="en-IN"/>
          </a:p>
        </p:txBody>
      </p:sp>
    </p:spTree>
    <p:extLst>
      <p:ext uri="{BB962C8B-B14F-4D97-AF65-F5344CB8AC3E}">
        <p14:creationId xmlns:p14="http://schemas.microsoft.com/office/powerpoint/2010/main" val="32591189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F447A-76D7-4DCE-9997-759B9E4673F9}" type="datetimeFigureOut">
              <a:rPr lang="en-IN" smtClean="0"/>
              <a:t>12-10-2025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1DE63D-82B2-451D-864F-FFE087DE8B74}" type="slidenum">
              <a:rPr lang="en-IN" smtClean="0"/>
              <a:t>‹#›</a:t>
            </a:fld>
            <a:endParaRPr lang="en-IN"/>
          </a:p>
        </p:txBody>
      </p:sp>
    </p:spTree>
    <p:extLst>
      <p:ext uri="{BB962C8B-B14F-4D97-AF65-F5344CB8AC3E}">
        <p14:creationId xmlns:p14="http://schemas.microsoft.com/office/powerpoint/2010/main" val="142463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1DE63D-82B2-451D-864F-FFE087DE8B74}" type="slidenum">
              <a:rPr lang="en-IN" smtClean="0"/>
              <a:t>12</a:t>
            </a:fld>
            <a:endParaRPr lang="en-IN"/>
          </a:p>
        </p:txBody>
      </p:sp>
    </p:spTree>
    <p:extLst>
      <p:ext uri="{BB962C8B-B14F-4D97-AF65-F5344CB8AC3E}">
        <p14:creationId xmlns:p14="http://schemas.microsoft.com/office/powerpoint/2010/main" val="108677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57A9D-A0E6-9323-D4CC-46529CC1D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ACC3A-698D-CDDB-E688-942E7AC68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D70BC-AD9F-06FF-B71C-759881F548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F868D71-C7DE-7383-8612-B22AB2933D4D}"/>
              </a:ext>
            </a:extLst>
          </p:cNvPr>
          <p:cNvSpPr>
            <a:spLocks noGrp="1"/>
          </p:cNvSpPr>
          <p:nvPr>
            <p:ph type="sldNum" sz="quarter" idx="5"/>
          </p:nvPr>
        </p:nvSpPr>
        <p:spPr/>
        <p:txBody>
          <a:bodyPr/>
          <a:lstStyle/>
          <a:p>
            <a:fld id="{321DE63D-82B2-451D-864F-FFE087DE8B74}" type="slidenum">
              <a:rPr lang="en-IN" smtClean="0"/>
              <a:t>14</a:t>
            </a:fld>
            <a:endParaRPr lang="en-IN"/>
          </a:p>
        </p:txBody>
      </p:sp>
    </p:spTree>
    <p:extLst>
      <p:ext uri="{BB962C8B-B14F-4D97-AF65-F5344CB8AC3E}">
        <p14:creationId xmlns:p14="http://schemas.microsoft.com/office/powerpoint/2010/main" val="1079324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8782C616-21D6-769C-F4AD-A15F07F71B54}"/>
              </a:ext>
            </a:extLst>
          </p:cNvPr>
          <p:cNvSpPr txBox="1">
            <a:spLocks/>
          </p:cNvSpPr>
          <p:nvPr userDrawn="1"/>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40FA7336-0A61-26CC-400A-E5A33C8E2EF5}"/>
              </a:ext>
            </a:extLst>
          </p:cNvPr>
          <p:cNvSpPr txBox="1">
            <a:spLocks/>
          </p:cNvSpPr>
          <p:nvPr userDrawn="1"/>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a:t>
            </a:fld>
            <a:endParaRPr lang="en-IN" sz="1200" dirty="0">
              <a:solidFill>
                <a:schemeClr val="accent3"/>
              </a:solidFill>
              <a:latin typeface="Aptos" panose="020B0004020202020204" pitchFamily="34" charset="0"/>
            </a:endParaRPr>
          </a:p>
        </p:txBody>
      </p:sp>
      <p:sp>
        <p:nvSpPr>
          <p:cNvPr id="12" name="Title 11">
            <a:extLst>
              <a:ext uri="{FF2B5EF4-FFF2-40B4-BE49-F238E27FC236}">
                <a16:creationId xmlns:a16="http://schemas.microsoft.com/office/drawing/2014/main" id="{A3FE11C5-A892-3527-F2D6-79044A65926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09363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827DAF-95E8-4AE4-8F29-F27484FD6428}" type="datetime1">
              <a:rPr lang="en-IN" smtClean="0"/>
              <a:t>12-10-2025</a:t>
            </a:fld>
            <a:endParaRPr lang="en-IN"/>
          </a:p>
        </p:txBody>
      </p:sp>
      <p:sp>
        <p:nvSpPr>
          <p:cNvPr id="5" name="Footer Placeholder 4"/>
          <p:cNvSpPr>
            <a:spLocks noGrp="1"/>
          </p:cNvSpPr>
          <p:nvPr>
            <p:ph type="ftr" sz="quarter" idx="11"/>
          </p:nvPr>
        </p:nvSpPr>
        <p:spPr/>
        <p:txBody>
          <a:bodyPr/>
          <a:lstStyle/>
          <a:p>
            <a:r>
              <a:rPr lang="en-IN"/>
              <a:t>Vardhaman College Of Engineering</a:t>
            </a:r>
            <a:endParaRPr lang="en-IN" dirty="0"/>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900064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FCD47-ACA7-42E3-9E5F-46D28F163962}" type="datetime1">
              <a:rPr lang="en-IN" smtClean="0"/>
              <a:t>12-10-2025</a:t>
            </a:fld>
            <a:endParaRPr lang="en-IN"/>
          </a:p>
        </p:txBody>
      </p:sp>
      <p:sp>
        <p:nvSpPr>
          <p:cNvPr id="5" name="Footer Placeholder 4"/>
          <p:cNvSpPr>
            <a:spLocks noGrp="1"/>
          </p:cNvSpPr>
          <p:nvPr>
            <p:ph type="ftr" sz="quarter" idx="11"/>
          </p:nvPr>
        </p:nvSpPr>
        <p:spPr/>
        <p:txBody>
          <a:bodyPr/>
          <a:lstStyle/>
          <a:p>
            <a:r>
              <a:rPr lang="en-IN"/>
              <a:t>Vardhaman College Of Engineering</a:t>
            </a:r>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8168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9AF5DF-754D-4D58-9EDF-7032AC7C93FF}" type="datetime1">
              <a:rPr lang="en-IN" smtClean="0"/>
              <a:t>12-10-2025</a:t>
            </a:fld>
            <a:endParaRPr lang="en-IN"/>
          </a:p>
        </p:txBody>
      </p:sp>
      <p:sp>
        <p:nvSpPr>
          <p:cNvPr id="6" name="Footer Placeholder 5"/>
          <p:cNvSpPr>
            <a:spLocks noGrp="1"/>
          </p:cNvSpPr>
          <p:nvPr>
            <p:ph type="ftr" sz="quarter" idx="11"/>
          </p:nvPr>
        </p:nvSpPr>
        <p:spPr/>
        <p:txBody>
          <a:bodyPr/>
          <a:lstStyle/>
          <a:p>
            <a:r>
              <a:rPr lang="en-IN"/>
              <a:t>Vardhaman College Of Engineering</a:t>
            </a:r>
          </a:p>
        </p:txBody>
      </p:sp>
      <p:sp>
        <p:nvSpPr>
          <p:cNvPr id="7" name="Slide Number Placeholder 6"/>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4230928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CF4429-411E-4337-96DF-B2B42568BAE7}" type="datetime1">
              <a:rPr lang="en-IN" smtClean="0"/>
              <a:t>12-10-2025</a:t>
            </a:fld>
            <a:endParaRPr lang="en-IN"/>
          </a:p>
        </p:txBody>
      </p:sp>
      <p:sp>
        <p:nvSpPr>
          <p:cNvPr id="8" name="Footer Placeholder 7"/>
          <p:cNvSpPr>
            <a:spLocks noGrp="1"/>
          </p:cNvSpPr>
          <p:nvPr>
            <p:ph type="ftr" sz="quarter" idx="11"/>
          </p:nvPr>
        </p:nvSpPr>
        <p:spPr/>
        <p:txBody>
          <a:bodyPr/>
          <a:lstStyle/>
          <a:p>
            <a:r>
              <a:rPr lang="en-IN"/>
              <a:t>Vardhaman College Of Engineering</a:t>
            </a:r>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3451763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663881-DA3B-49D1-A23E-AEA91CA42425}" type="datetime1">
              <a:rPr lang="en-IN" smtClean="0"/>
              <a:t>12-10-2025</a:t>
            </a:fld>
            <a:endParaRPr lang="en-IN"/>
          </a:p>
        </p:txBody>
      </p:sp>
      <p:sp>
        <p:nvSpPr>
          <p:cNvPr id="4" name="Footer Placeholder 3"/>
          <p:cNvSpPr>
            <a:spLocks noGrp="1"/>
          </p:cNvSpPr>
          <p:nvPr>
            <p:ph type="ftr" sz="quarter" idx="11"/>
          </p:nvPr>
        </p:nvSpPr>
        <p:spPr/>
        <p:txBody>
          <a:bodyPr/>
          <a:lstStyle/>
          <a:p>
            <a:r>
              <a:rPr lang="en-IN"/>
              <a:t>Vardhaman College Of Engineering</a:t>
            </a:r>
          </a:p>
        </p:txBody>
      </p:sp>
      <p:sp>
        <p:nvSpPr>
          <p:cNvPr id="5" name="Slide Number Placeholder 4"/>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4005834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4F51867-9540-4548-BA00-41AC4CFEE70F}" type="datetime1">
              <a:rPr lang="en-IN" smtClean="0"/>
              <a:t>12-10-2025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Vardhaman College Of Engineering</a:t>
            </a:r>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pic>
        <p:nvPicPr>
          <p:cNvPr id="2" name="Picture 1">
            <a:extLst>
              <a:ext uri="{FF2B5EF4-FFF2-40B4-BE49-F238E27FC236}">
                <a16:creationId xmlns:a16="http://schemas.microsoft.com/office/drawing/2014/main" id="{780F4C69-05CD-71C1-F10C-658888BE28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Tree>
    <p:extLst>
      <p:ext uri="{BB962C8B-B14F-4D97-AF65-F5344CB8AC3E}">
        <p14:creationId xmlns:p14="http://schemas.microsoft.com/office/powerpoint/2010/main" val="2659696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D115AD5-8487-4FDE-8528-C9F7488F6ABD}" type="datetime1">
              <a:rPr lang="en-IN" smtClean="0"/>
              <a:t>12-10-2025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Vardhaman College Of Engineering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A3FA1D-EC91-45BD-A9AB-12F85A35EF5C}" type="slidenum">
              <a:rPr lang="en-IN" smtClean="0"/>
              <a:t>‹#›</a:t>
            </a:fld>
            <a:endParaRPr lang="en-IN"/>
          </a:p>
        </p:txBody>
      </p:sp>
    </p:spTree>
    <p:extLst>
      <p:ext uri="{BB962C8B-B14F-4D97-AF65-F5344CB8AC3E}">
        <p14:creationId xmlns:p14="http://schemas.microsoft.com/office/powerpoint/2010/main" val="3898349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645D7-53DB-474E-B4B6-AED3786E1B39}" type="datetime1">
              <a:rPr lang="en-IN" smtClean="0"/>
              <a:t>12-10-2025</a:t>
            </a:fld>
            <a:endParaRPr lang="en-IN"/>
          </a:p>
        </p:txBody>
      </p:sp>
      <p:sp>
        <p:nvSpPr>
          <p:cNvPr id="6" name="Footer Placeholder 5"/>
          <p:cNvSpPr>
            <a:spLocks noGrp="1"/>
          </p:cNvSpPr>
          <p:nvPr>
            <p:ph type="ftr" sz="quarter" idx="11"/>
          </p:nvPr>
        </p:nvSpPr>
        <p:spPr/>
        <p:txBody>
          <a:bodyPr/>
          <a:lstStyle/>
          <a:p>
            <a:r>
              <a:rPr lang="en-IN"/>
              <a:t>Vardhaman College Of Engineering</a:t>
            </a:r>
          </a:p>
        </p:txBody>
      </p:sp>
      <p:sp>
        <p:nvSpPr>
          <p:cNvPr id="7" name="Slide Number Placeholder 6"/>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2851120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F6F967-1531-4F87-B562-081FA498D978}" type="datetime1">
              <a:rPr lang="en-IN" smtClean="0"/>
              <a:t>12-10-2025</a:t>
            </a:fld>
            <a:endParaRPr lang="en-IN"/>
          </a:p>
        </p:txBody>
      </p:sp>
      <p:sp>
        <p:nvSpPr>
          <p:cNvPr id="5" name="Footer Placeholder 4"/>
          <p:cNvSpPr>
            <a:spLocks noGrp="1"/>
          </p:cNvSpPr>
          <p:nvPr>
            <p:ph type="ftr" sz="quarter" idx="11"/>
          </p:nvPr>
        </p:nvSpPr>
        <p:spPr/>
        <p:txBody>
          <a:bodyPr/>
          <a:lstStyle/>
          <a:p>
            <a:r>
              <a:rPr lang="en-IN"/>
              <a:t>Vardhaman College Of Engineering</a:t>
            </a:r>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12704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9F6713-C2D6-415F-8132-AD7A60E4F634}" type="datetime1">
              <a:rPr lang="en-IN" smtClean="0"/>
              <a:t>12-10-2025</a:t>
            </a:fld>
            <a:endParaRPr lang="en-IN"/>
          </a:p>
        </p:txBody>
      </p:sp>
      <p:sp>
        <p:nvSpPr>
          <p:cNvPr id="5" name="Footer Placeholder 4"/>
          <p:cNvSpPr>
            <a:spLocks noGrp="1"/>
          </p:cNvSpPr>
          <p:nvPr>
            <p:ph type="ftr" sz="quarter" idx="11"/>
          </p:nvPr>
        </p:nvSpPr>
        <p:spPr/>
        <p:txBody>
          <a:bodyPr/>
          <a:lstStyle/>
          <a:p>
            <a:r>
              <a:rPr lang="en-IN"/>
              <a:t>Vardhaman College Of Engineering</a:t>
            </a:r>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247764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B0B4F14-0AF0-4BBA-AB5B-5550FC29C108}" type="datetime1">
              <a:rPr lang="en-IN" smtClean="0"/>
              <a:t>12-10-2025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Vardhaman College Of Engineering</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6A3FA1D-EC91-45BD-A9AB-12F85A35EF5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24161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890B9D4-4050-D93B-860F-DFBB39B06DA4}"/>
              </a:ext>
            </a:extLst>
          </p:cNvPr>
          <p:cNvSpPr>
            <a:spLocks noGrp="1"/>
          </p:cNvSpPr>
          <p:nvPr>
            <p:ph type="subTitle" idx="1"/>
          </p:nvPr>
        </p:nvSpPr>
        <p:spPr>
          <a:xfrm>
            <a:off x="1678112" y="4629452"/>
            <a:ext cx="9144000" cy="1288461"/>
          </a:xfrm>
        </p:spPr>
        <p:txBody>
          <a:bodyPr>
            <a:normAutofit/>
          </a:bodyPr>
          <a:lstStyle/>
          <a:p>
            <a:r>
              <a:rPr lang="en-IN" sz="1800" b="1" dirty="0">
                <a:latin typeface="Aptos" panose="020B0004020202020204" pitchFamily="34" charset="0"/>
              </a:rPr>
              <a:t>                                                               Presented By</a:t>
            </a:r>
          </a:p>
          <a:p>
            <a:pPr lvl="1" algn="r"/>
            <a:r>
              <a:rPr lang="en-US" sz="1800" dirty="0">
                <a:latin typeface="Aptos" panose="020B0004020202020204" pitchFamily="34" charset="0"/>
              </a:rPr>
              <a:t>B. SHAILESH CHOWDARY</a:t>
            </a:r>
            <a:r>
              <a:rPr lang="en-IN" sz="1800" dirty="0">
                <a:latin typeface="Aptos" panose="020B0004020202020204" pitchFamily="34" charset="0"/>
              </a:rPr>
              <a:t> – 22881A1267</a:t>
            </a:r>
          </a:p>
          <a:p>
            <a:pPr lvl="1" algn="r"/>
            <a:r>
              <a:rPr lang="en-US" sz="1800" dirty="0">
                <a:latin typeface="Aptos" panose="020B0004020202020204" pitchFamily="34" charset="0"/>
              </a:rPr>
              <a:t>B. MEHER LAKSHMI MEGHANA</a:t>
            </a:r>
            <a:r>
              <a:rPr lang="en-IN" sz="1800" dirty="0">
                <a:latin typeface="Aptos" panose="020B0004020202020204" pitchFamily="34" charset="0"/>
              </a:rPr>
              <a:t> - 22881A1271</a:t>
            </a:r>
          </a:p>
          <a:p>
            <a:pPr lvl="1" algn="r"/>
            <a:r>
              <a:rPr lang="en-IN" sz="1800" dirty="0">
                <a:latin typeface="Aptos" panose="020B0004020202020204" pitchFamily="34" charset="0"/>
              </a:rPr>
              <a:t>K.POOJITHA- 22881A1287</a:t>
            </a:r>
          </a:p>
        </p:txBody>
      </p:sp>
      <p:sp>
        <p:nvSpPr>
          <p:cNvPr id="5" name="TextBox 4">
            <a:extLst>
              <a:ext uri="{FF2B5EF4-FFF2-40B4-BE49-F238E27FC236}">
                <a16:creationId xmlns:a16="http://schemas.microsoft.com/office/drawing/2014/main" id="{95CE0860-16C3-CAC3-0042-2B36512832B1}"/>
              </a:ext>
            </a:extLst>
          </p:cNvPr>
          <p:cNvSpPr txBox="1"/>
          <p:nvPr/>
        </p:nvSpPr>
        <p:spPr>
          <a:xfrm>
            <a:off x="3047144" y="2979500"/>
            <a:ext cx="6097712" cy="1050737"/>
          </a:xfrm>
          <a:prstGeom prst="rect">
            <a:avLst/>
          </a:prstGeom>
          <a:noFill/>
        </p:spPr>
        <p:txBody>
          <a:bodyPr wrap="square">
            <a:spAutoFit/>
          </a:bodyPr>
          <a:lstStyle/>
          <a:p>
            <a:pPr algn="ctr">
              <a:lnSpc>
                <a:spcPct val="150000"/>
              </a:lnSpc>
            </a:pPr>
            <a:r>
              <a:rPr lang="en-IN" sz="2000" b="1" dirty="0">
                <a:latin typeface="Bookman Old Style" panose="02050604050505020204" pitchFamily="18" charset="0"/>
              </a:rPr>
              <a:t>By</a:t>
            </a:r>
            <a:br>
              <a:rPr lang="en-IN" sz="2800" dirty="0">
                <a:latin typeface="Bookman Old Style" panose="02050604050505020204" pitchFamily="18" charset="0"/>
              </a:rPr>
            </a:br>
            <a:r>
              <a:rPr lang="en-US" sz="2400" dirty="0"/>
              <a:t>Ms. B SWAPNA</a:t>
            </a:r>
            <a:endParaRPr lang="en-IN" sz="2400" dirty="0"/>
          </a:p>
        </p:txBody>
      </p:sp>
      <p:sp>
        <p:nvSpPr>
          <p:cNvPr id="7" name="Title 6">
            <a:extLst>
              <a:ext uri="{FF2B5EF4-FFF2-40B4-BE49-F238E27FC236}">
                <a16:creationId xmlns:a16="http://schemas.microsoft.com/office/drawing/2014/main" id="{9D71A4F2-345D-CE88-B7EC-AF0B0758DF72}"/>
              </a:ext>
            </a:extLst>
          </p:cNvPr>
          <p:cNvSpPr>
            <a:spLocks noGrp="1"/>
          </p:cNvSpPr>
          <p:nvPr>
            <p:ph type="ctrTitle"/>
          </p:nvPr>
        </p:nvSpPr>
        <p:spPr>
          <a:xfrm>
            <a:off x="30519" y="460081"/>
            <a:ext cx="12130961" cy="1981088"/>
          </a:xfrm>
        </p:spPr>
        <p:txBody>
          <a:bodyPr>
            <a:normAutofit/>
          </a:bodyPr>
          <a:lstStyle/>
          <a:p>
            <a:pPr algn="ctr"/>
            <a:r>
              <a:rPr lang="en-US" dirty="0"/>
              <a:t>RSO-Optimized Federated Multi-Agent Actor-Critic RL for IoT Edge</a:t>
            </a:r>
            <a:endParaRPr lang="en-IN" sz="4000" dirty="0">
              <a:latin typeface="Aptos" panose="020B0004020202020204" pitchFamily="34" charset="0"/>
            </a:endParaRPr>
          </a:p>
        </p:txBody>
      </p:sp>
      <p:sp>
        <p:nvSpPr>
          <p:cNvPr id="9" name="Date Placeholder 3"/>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1" name="Footer Placeholder 4"/>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430338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A3C805-72CF-E36C-2B96-3FADC11B9A63}"/>
              </a:ext>
            </a:extLst>
          </p:cNvPr>
          <p:cNvSpPr txBox="1"/>
          <p:nvPr/>
        </p:nvSpPr>
        <p:spPr>
          <a:xfrm>
            <a:off x="583058" y="308493"/>
            <a:ext cx="6097712" cy="584775"/>
          </a:xfrm>
          <a:prstGeom prst="rect">
            <a:avLst/>
          </a:prstGeom>
          <a:noFill/>
        </p:spPr>
        <p:txBody>
          <a:bodyPr wrap="square">
            <a:spAutoFit/>
          </a:bodyPr>
          <a:lstStyle/>
          <a:p>
            <a:r>
              <a:rPr lang="en-IN" sz="3200" b="1" dirty="0">
                <a:latin typeface="Book Antiqua" panose="02040602050305030304" pitchFamily="18" charset="0"/>
              </a:rPr>
              <a:t>Introduction</a:t>
            </a:r>
          </a:p>
        </p:txBody>
      </p:sp>
      <p:sp>
        <p:nvSpPr>
          <p:cNvPr id="5" name="Rectangle 1">
            <a:extLst>
              <a:ext uri="{FF2B5EF4-FFF2-40B4-BE49-F238E27FC236}">
                <a16:creationId xmlns:a16="http://schemas.microsoft.com/office/drawing/2014/main" id="{9525A6B7-6F01-856E-E0C5-EE0CCCF89DBF}"/>
              </a:ext>
            </a:extLst>
          </p:cNvPr>
          <p:cNvSpPr>
            <a:spLocks noChangeArrowheads="1"/>
          </p:cNvSpPr>
          <p:nvPr/>
        </p:nvSpPr>
        <p:spPr bwMode="auto">
          <a:xfrm>
            <a:off x="583058" y="793179"/>
            <a:ext cx="10078949" cy="5453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pPr>
            <a:r>
              <a:rPr lang="en-US" dirty="0"/>
              <a:t>In today’s rapidly evolving IoT edge environments, reinforcement learning (RL) has emerged as a powerful tool for enabling intelligent decision-making across domains such as smart cities, healthcare, transportation, and industrial automation. However, deploying RL on edge devices presents major challenges, including high latency, excessive energy consumption, and limited scalability of traditional centralized learning approaches. These issues motivate the need for advanced methods that can ensure efficient collaboration among multiple agents while reducing resource overhead. With the growing demand for real-time, energy-efficient, and scalable systems, federated learning combined with optimization techniques has gained significant relevance. Such approaches can address the limitations of conventional federated averaging and improve performance in dynamic environments. The real-world applications of this research span smart healthcare systems, intelligent transportation, energy-efficient smart grids, and industrial IoT automation, highlighting its broad impact and importance in the current technological landscape.</a:t>
            </a:r>
          </a:p>
          <a:p>
            <a:pPr marL="0" marR="0" lvl="0" indent="0" algn="l" defTabSz="914400" rtl="0" eaLnBrk="0" fontAlgn="base" latinLnBrk="0" hangingPunct="0">
              <a:lnSpc>
                <a:spcPct val="15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ptos" panose="020B0004020202020204" pitchFamily="34" charset="0"/>
            </a:endParaRPr>
          </a:p>
        </p:txBody>
      </p:sp>
      <p:sp>
        <p:nvSpPr>
          <p:cNvPr id="12" name="Date Placeholder 3">
            <a:extLst>
              <a:ext uri="{FF2B5EF4-FFF2-40B4-BE49-F238E27FC236}">
                <a16:creationId xmlns:a16="http://schemas.microsoft.com/office/drawing/2014/main" id="{6235B595-292B-67CE-1E0E-2DE4AFA0BB04}"/>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519CC8C-BD30-68DD-938A-9D801131D104}"/>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3A13975D-5A60-DFFB-8F21-1A579B3AD02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2</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4164424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FDBA8-31F8-6831-130A-352BA372F84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DBA564C-F2C1-E58F-3A32-8202431D98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3622D6D9-E876-3181-2C72-45B794DA4BF4}"/>
              </a:ext>
            </a:extLst>
          </p:cNvPr>
          <p:cNvSpPr txBox="1"/>
          <p:nvPr/>
        </p:nvSpPr>
        <p:spPr>
          <a:xfrm>
            <a:off x="541962" y="352680"/>
            <a:ext cx="6097712" cy="584775"/>
          </a:xfrm>
          <a:prstGeom prst="rect">
            <a:avLst/>
          </a:prstGeom>
          <a:noFill/>
        </p:spPr>
        <p:txBody>
          <a:bodyPr wrap="square">
            <a:spAutoFit/>
          </a:bodyPr>
          <a:lstStyle/>
          <a:p>
            <a:r>
              <a:rPr lang="en-IN" sz="3200" b="1" dirty="0">
                <a:latin typeface="Book Antiqua" panose="02040602050305030304" pitchFamily="18" charset="0"/>
              </a:rPr>
              <a:t>Problem Statement</a:t>
            </a:r>
          </a:p>
        </p:txBody>
      </p:sp>
      <p:sp>
        <p:nvSpPr>
          <p:cNvPr id="5" name="Rectangle 1">
            <a:extLst>
              <a:ext uri="{FF2B5EF4-FFF2-40B4-BE49-F238E27FC236}">
                <a16:creationId xmlns:a16="http://schemas.microsoft.com/office/drawing/2014/main" id="{05050B35-C9D5-CF08-7FF6-8A53E932BF78}"/>
              </a:ext>
            </a:extLst>
          </p:cNvPr>
          <p:cNvSpPr>
            <a:spLocks noChangeArrowheads="1"/>
          </p:cNvSpPr>
          <p:nvPr/>
        </p:nvSpPr>
        <p:spPr bwMode="auto">
          <a:xfrm>
            <a:off x="714468" y="1310471"/>
            <a:ext cx="9678256"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t>In IoT edge environments, reinforcement learning systems face several challenges:</a:t>
            </a:r>
          </a:p>
          <a:p>
            <a:pPr marL="285750" indent="-285750" algn="just">
              <a:buFont typeface="Arial" panose="020B0604020202020204" pitchFamily="34" charset="0"/>
              <a:buChar char="•"/>
            </a:pPr>
            <a:r>
              <a:rPr lang="en-US" dirty="0"/>
              <a:t>High latency on resource-constrained edge devices.</a:t>
            </a:r>
          </a:p>
          <a:p>
            <a:pPr marL="285750" indent="-285750" algn="just">
              <a:buFont typeface="Arial" panose="020B0604020202020204" pitchFamily="34" charset="0"/>
              <a:buChar char="•"/>
            </a:pPr>
            <a:r>
              <a:rPr lang="en-US" dirty="0"/>
              <a:t>Excessive energy consumption during RL model execution.</a:t>
            </a:r>
          </a:p>
          <a:p>
            <a:pPr marL="285750" indent="-285750" algn="just">
              <a:buFont typeface="Arial" panose="020B0604020202020204" pitchFamily="34" charset="0"/>
              <a:buChar char="•"/>
            </a:pPr>
            <a:r>
              <a:rPr lang="en-US" dirty="0"/>
              <a:t>Scalability issues with centralized learning approaches.</a:t>
            </a:r>
          </a:p>
          <a:p>
            <a:pPr marL="285750" indent="-285750" algn="just">
              <a:buFont typeface="Arial" panose="020B0604020202020204" pitchFamily="34" charset="0"/>
              <a:buChar char="•"/>
            </a:pPr>
            <a:r>
              <a:rPr lang="en-US" dirty="0"/>
              <a:t>Suboptimal collaboration among multiple agents.</a:t>
            </a:r>
          </a:p>
          <a:p>
            <a:pPr marL="285750" indent="-285750" algn="just">
              <a:buFont typeface="Arial" panose="020B0604020202020204" pitchFamily="34" charset="0"/>
              <a:buChar char="•"/>
            </a:pPr>
            <a:r>
              <a:rPr lang="en-US" dirty="0"/>
              <a:t>Inefficiency of federated averaging (</a:t>
            </a:r>
            <a:r>
              <a:rPr lang="en-US" dirty="0" err="1"/>
              <a:t>FedAvg</a:t>
            </a:r>
            <a:r>
              <a:rPr lang="en-US" dirty="0"/>
              <a:t>) in balancing system requirements.</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13" name="Date Placeholder 3">
            <a:extLst>
              <a:ext uri="{FF2B5EF4-FFF2-40B4-BE49-F238E27FC236}">
                <a16:creationId xmlns:a16="http://schemas.microsoft.com/office/drawing/2014/main" id="{B85F708B-8B66-50CE-7300-0EFF66574F3B}"/>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E3C70CEB-09EE-5E20-B6A4-1EEEF071838C}"/>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8A97C427-76BF-7263-5584-8CD227298C5C}"/>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3</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941561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DA11F-FE40-ECD8-4934-7E7C61BD6E6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2728778-8761-DA5B-1648-FA50782BAA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7D805118-0702-4DCE-AAD0-B36CED33C593}"/>
              </a:ext>
            </a:extLst>
          </p:cNvPr>
          <p:cNvSpPr txBox="1"/>
          <p:nvPr/>
        </p:nvSpPr>
        <p:spPr>
          <a:xfrm>
            <a:off x="932380" y="1233571"/>
            <a:ext cx="9752744" cy="3237874"/>
          </a:xfrm>
          <a:prstGeom prst="rect">
            <a:avLst/>
          </a:prstGeom>
          <a:noFill/>
        </p:spPr>
        <p:txBody>
          <a:bodyPr wrap="square">
            <a:spAutoFit/>
          </a:bodyPr>
          <a:lstStyle/>
          <a:p>
            <a:pPr marL="285750" indent="-285750" algn="just">
              <a:buFont typeface="Arial" panose="020B0604020202020204" pitchFamily="34" charset="0"/>
              <a:buChar char="•"/>
            </a:pPr>
            <a:r>
              <a:rPr lang="en-US" dirty="0"/>
              <a:t>Develop a Federated Multi-Agent Actor-Critic RL framework that supports decentralized training across IoT edge devices.</a:t>
            </a:r>
          </a:p>
          <a:p>
            <a:pPr marL="285750" indent="-285750" algn="just">
              <a:buFont typeface="Arial" panose="020B0604020202020204" pitchFamily="34" charset="0"/>
              <a:buChar char="•"/>
            </a:pPr>
            <a:r>
              <a:rPr lang="en-US" dirty="0"/>
              <a:t>Reduce latency and energy consumption in RL model execution on resource-constrained edge environments.</a:t>
            </a:r>
          </a:p>
          <a:p>
            <a:pPr marL="285750" indent="-285750" algn="just">
              <a:buFont typeface="Arial" panose="020B0604020202020204" pitchFamily="34" charset="0"/>
              <a:buChar char="•"/>
            </a:pPr>
            <a:r>
              <a:rPr lang="en-US" dirty="0"/>
              <a:t>Enhance collaboration among multiple agents by overcoming the limitations of conventional federated averaging (</a:t>
            </a:r>
            <a:r>
              <a:rPr lang="en-US" dirty="0" err="1"/>
              <a:t>FedAvg</a:t>
            </a:r>
            <a:r>
              <a:rPr lang="en-US" dirty="0"/>
              <a:t>).</a:t>
            </a:r>
          </a:p>
          <a:p>
            <a:pPr marL="285750" indent="-285750" algn="just">
              <a:buFont typeface="Arial" panose="020B0604020202020204" pitchFamily="34" charset="0"/>
              <a:buChar char="•"/>
            </a:pPr>
            <a:r>
              <a:rPr lang="en-US" dirty="0"/>
              <a:t>Integrate Rat Swarm Optimization (RSO) to optimize federated aggregation for improved performance.</a:t>
            </a:r>
          </a:p>
          <a:p>
            <a:pPr marL="285750" indent="-285750" algn="just">
              <a:buFont typeface="Arial" panose="020B0604020202020204" pitchFamily="34" charset="0"/>
              <a:buChar char="•"/>
            </a:pPr>
            <a:r>
              <a:rPr lang="en-US" dirty="0"/>
              <a:t>Achieve a balance between accuracy, efficiency, and scalability for real-world IoT edge applications such as healthcare, transportation, and smart cities.</a:t>
            </a:r>
          </a:p>
          <a:p>
            <a:pPr marL="285750" indent="-285750" algn="just">
              <a:lnSpc>
                <a:spcPct val="150000"/>
              </a:lnSpc>
              <a:buFont typeface="Arial" panose="020B0604020202020204" pitchFamily="34" charset="0"/>
              <a:buChar char="•"/>
            </a:pPr>
            <a:endParaRPr lang="en-US" dirty="0">
              <a:latin typeface="Aptos" panose="020B0004020202020204" pitchFamily="34" charset="0"/>
            </a:endParaRPr>
          </a:p>
        </p:txBody>
      </p:sp>
      <p:sp>
        <p:nvSpPr>
          <p:cNvPr id="6" name="TextBox 5">
            <a:extLst>
              <a:ext uri="{FF2B5EF4-FFF2-40B4-BE49-F238E27FC236}">
                <a16:creationId xmlns:a16="http://schemas.microsoft.com/office/drawing/2014/main" id="{0B3C14B1-B4B0-534B-E1FE-E68BB7B53460}"/>
              </a:ext>
            </a:extLst>
          </p:cNvPr>
          <p:cNvSpPr txBox="1"/>
          <p:nvPr/>
        </p:nvSpPr>
        <p:spPr>
          <a:xfrm>
            <a:off x="583058" y="352680"/>
            <a:ext cx="6097712" cy="584775"/>
          </a:xfrm>
          <a:prstGeom prst="rect">
            <a:avLst/>
          </a:prstGeom>
          <a:noFill/>
        </p:spPr>
        <p:txBody>
          <a:bodyPr wrap="square">
            <a:spAutoFit/>
          </a:bodyPr>
          <a:lstStyle/>
          <a:p>
            <a:pPr>
              <a:buNone/>
            </a:pPr>
            <a:r>
              <a:rPr lang="en-US" sz="3200" b="1" dirty="0">
                <a:latin typeface="Book Antiqua" panose="02040602050305030304" pitchFamily="18" charset="0"/>
              </a:rPr>
              <a:t>Objectives</a:t>
            </a:r>
          </a:p>
        </p:txBody>
      </p:sp>
      <p:sp>
        <p:nvSpPr>
          <p:cNvPr id="15" name="Date Placeholder 3">
            <a:extLst>
              <a:ext uri="{FF2B5EF4-FFF2-40B4-BE49-F238E27FC236}">
                <a16:creationId xmlns:a16="http://schemas.microsoft.com/office/drawing/2014/main" id="{598B0CA9-2D80-D02E-00F5-82398D0865FB}"/>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6" name="Footer Placeholder 4">
            <a:extLst>
              <a:ext uri="{FF2B5EF4-FFF2-40B4-BE49-F238E27FC236}">
                <a16:creationId xmlns:a16="http://schemas.microsoft.com/office/drawing/2014/main" id="{A6E14718-3AEC-68A9-0EB6-71CEDDF83688}"/>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7" name="Slide Number Placeholder 5">
            <a:extLst>
              <a:ext uri="{FF2B5EF4-FFF2-40B4-BE49-F238E27FC236}">
                <a16:creationId xmlns:a16="http://schemas.microsoft.com/office/drawing/2014/main" id="{F428699F-E025-AB8D-542C-877D92F5A788}"/>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4</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898072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FACA8B5-E4FA-85AE-CB4C-8C860B947CA3}"/>
              </a:ext>
            </a:extLst>
          </p:cNvPr>
          <p:cNvSpPr txBox="1"/>
          <p:nvPr/>
        </p:nvSpPr>
        <p:spPr>
          <a:xfrm>
            <a:off x="1097280" y="991534"/>
            <a:ext cx="6097712" cy="584775"/>
          </a:xfrm>
          <a:prstGeom prst="rect">
            <a:avLst/>
          </a:prstGeom>
          <a:noFill/>
        </p:spPr>
        <p:txBody>
          <a:bodyPr wrap="square">
            <a:spAutoFit/>
          </a:bodyPr>
          <a:lstStyle/>
          <a:p>
            <a:pPr>
              <a:buNone/>
            </a:pPr>
            <a:r>
              <a:rPr lang="en-US" sz="3200" b="1" dirty="0">
                <a:latin typeface="Book Antiqua" panose="02040602050305030304" pitchFamily="18" charset="0"/>
              </a:rPr>
              <a:t>Scope of the Project</a:t>
            </a:r>
          </a:p>
        </p:txBody>
      </p:sp>
      <p:sp>
        <p:nvSpPr>
          <p:cNvPr id="8" name="TextBox 7">
            <a:extLst>
              <a:ext uri="{FF2B5EF4-FFF2-40B4-BE49-F238E27FC236}">
                <a16:creationId xmlns:a16="http://schemas.microsoft.com/office/drawing/2014/main" id="{D54B1C00-20E2-166F-A917-9796E0667B85}"/>
              </a:ext>
            </a:extLst>
          </p:cNvPr>
          <p:cNvSpPr txBox="1"/>
          <p:nvPr/>
        </p:nvSpPr>
        <p:spPr>
          <a:xfrm>
            <a:off x="1097280" y="2144900"/>
            <a:ext cx="9855485" cy="2308324"/>
          </a:xfrm>
          <a:prstGeom prst="rect">
            <a:avLst/>
          </a:prstGeom>
          <a:noFill/>
        </p:spPr>
        <p:txBody>
          <a:bodyPr wrap="square">
            <a:spAutoFit/>
          </a:bodyPr>
          <a:lstStyle/>
          <a:p>
            <a:pPr algn="just"/>
            <a:r>
              <a:rPr lang="en-US" b="1" dirty="0"/>
              <a:t>What the project will cover</a:t>
            </a:r>
            <a:endParaRPr lang="en-US" dirty="0"/>
          </a:p>
          <a:p>
            <a:pPr marL="285750" indent="-285750" algn="just">
              <a:buFont typeface="Arial" panose="020B0604020202020204" pitchFamily="34" charset="0"/>
              <a:buChar char="•"/>
            </a:pPr>
            <a:r>
              <a:rPr lang="en-US" dirty="0"/>
              <a:t>Development of a </a:t>
            </a:r>
            <a:r>
              <a:rPr lang="en-US" b="1" dirty="0"/>
              <a:t>federated multi-agent Actor-Critic RL framework</a:t>
            </a:r>
            <a:r>
              <a:rPr lang="en-US" dirty="0"/>
              <a:t> for IoT edge environments.</a:t>
            </a:r>
          </a:p>
          <a:p>
            <a:pPr marL="285750" indent="-285750" algn="just">
              <a:buFont typeface="Arial" panose="020B0604020202020204" pitchFamily="34" charset="0"/>
              <a:buChar char="•"/>
            </a:pPr>
            <a:r>
              <a:rPr lang="en-US" dirty="0"/>
              <a:t>Integration of </a:t>
            </a:r>
            <a:r>
              <a:rPr lang="en-US" b="1" dirty="0"/>
              <a:t>Rat Swarm Optimization (RSO)</a:t>
            </a:r>
            <a:r>
              <a:rPr lang="en-US" dirty="0"/>
              <a:t> with federated aggregation to optimize performance.</a:t>
            </a:r>
          </a:p>
          <a:p>
            <a:pPr marL="285750" indent="-285750" algn="just">
              <a:buFont typeface="Arial" panose="020B0604020202020204" pitchFamily="34" charset="0"/>
              <a:buChar char="•"/>
            </a:pPr>
            <a:r>
              <a:rPr lang="en-US" dirty="0"/>
              <a:t>Evaluation of </a:t>
            </a:r>
            <a:r>
              <a:rPr lang="en-US" b="1" dirty="0"/>
              <a:t>key performance metrics</a:t>
            </a:r>
            <a:r>
              <a:rPr lang="en-US" dirty="0"/>
              <a:t> such as latency, energy consumption, throughput, and reward.</a:t>
            </a:r>
          </a:p>
          <a:p>
            <a:pPr marL="285750" indent="-285750" algn="just">
              <a:buFont typeface="Arial" panose="020B0604020202020204" pitchFamily="34" charset="0"/>
              <a:buChar char="•"/>
            </a:pPr>
            <a:r>
              <a:rPr lang="en-US" dirty="0"/>
              <a:t>Simulation of </a:t>
            </a:r>
            <a:r>
              <a:rPr lang="en-US" b="1" dirty="0"/>
              <a:t>real-world IoT edge scenarios</a:t>
            </a:r>
            <a:r>
              <a:rPr lang="en-US" dirty="0"/>
              <a:t> (e.g., smart cities, healthcare, transportation) to validate effectiveness.</a:t>
            </a:r>
          </a:p>
          <a:p>
            <a:pPr marL="285750" indent="-285750" algn="just">
              <a:buFont typeface="Arial" panose="020B0604020202020204" pitchFamily="34" charset="0"/>
              <a:buChar char="•"/>
            </a:pPr>
            <a:endParaRPr lang="en-US" dirty="0">
              <a:latin typeface="Aptos" panose="020B0004020202020204" pitchFamily="34" charset="0"/>
            </a:endParaRPr>
          </a:p>
        </p:txBody>
      </p:sp>
    </p:spTree>
    <p:extLst>
      <p:ext uri="{BB962C8B-B14F-4D97-AF65-F5344CB8AC3E}">
        <p14:creationId xmlns:p14="http://schemas.microsoft.com/office/powerpoint/2010/main" val="810293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B5D-2303-3AD1-3A37-89014B9EA6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3160DF6-7120-F974-19F2-35CE8CBC39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34406C81-0F5D-683F-7220-12572C25AAC8}"/>
              </a:ext>
            </a:extLst>
          </p:cNvPr>
          <p:cNvSpPr txBox="1"/>
          <p:nvPr/>
        </p:nvSpPr>
        <p:spPr>
          <a:xfrm>
            <a:off x="470042" y="305344"/>
            <a:ext cx="6097712" cy="584775"/>
          </a:xfrm>
          <a:prstGeom prst="rect">
            <a:avLst/>
          </a:prstGeom>
          <a:noFill/>
        </p:spPr>
        <p:txBody>
          <a:bodyPr wrap="square">
            <a:spAutoFit/>
          </a:bodyPr>
          <a:lstStyle/>
          <a:p>
            <a:pPr>
              <a:buNone/>
            </a:pPr>
            <a:r>
              <a:rPr lang="en-US" sz="3200" b="1" dirty="0">
                <a:latin typeface="Book Antiqua" panose="02040602050305030304" pitchFamily="18" charset="0"/>
              </a:rPr>
              <a:t>Literature Survey Summary</a:t>
            </a:r>
          </a:p>
        </p:txBody>
      </p:sp>
      <p:graphicFrame>
        <p:nvGraphicFramePr>
          <p:cNvPr id="8" name="Table 7">
            <a:extLst>
              <a:ext uri="{FF2B5EF4-FFF2-40B4-BE49-F238E27FC236}">
                <a16:creationId xmlns:a16="http://schemas.microsoft.com/office/drawing/2014/main" id="{548FE66D-7997-AC90-4D98-E1780CAF6BEB}"/>
              </a:ext>
            </a:extLst>
          </p:cNvPr>
          <p:cNvGraphicFramePr>
            <a:graphicFrameLocks noGrp="1"/>
          </p:cNvGraphicFramePr>
          <p:nvPr>
            <p:extLst>
              <p:ext uri="{D42A27DB-BD31-4B8C-83A1-F6EECF244321}">
                <p14:modId xmlns:p14="http://schemas.microsoft.com/office/powerpoint/2010/main" val="725733570"/>
              </p:ext>
            </p:extLst>
          </p:nvPr>
        </p:nvGraphicFramePr>
        <p:xfrm>
          <a:off x="324196" y="1079553"/>
          <a:ext cx="11767605" cy="5181558"/>
        </p:xfrm>
        <a:graphic>
          <a:graphicData uri="http://schemas.openxmlformats.org/drawingml/2006/table">
            <a:tbl>
              <a:tblPr firstRow="1" bandRow="1">
                <a:tableStyleId>{7DF18680-E054-41AD-8BC1-D1AEF772440D}</a:tableStyleId>
              </a:tblPr>
              <a:tblGrid>
                <a:gridCol w="2353521">
                  <a:extLst>
                    <a:ext uri="{9D8B030D-6E8A-4147-A177-3AD203B41FA5}">
                      <a16:colId xmlns:a16="http://schemas.microsoft.com/office/drawing/2014/main" val="2117232728"/>
                    </a:ext>
                  </a:extLst>
                </a:gridCol>
                <a:gridCol w="2353521">
                  <a:extLst>
                    <a:ext uri="{9D8B030D-6E8A-4147-A177-3AD203B41FA5}">
                      <a16:colId xmlns:a16="http://schemas.microsoft.com/office/drawing/2014/main" val="2203765823"/>
                    </a:ext>
                  </a:extLst>
                </a:gridCol>
                <a:gridCol w="2353521">
                  <a:extLst>
                    <a:ext uri="{9D8B030D-6E8A-4147-A177-3AD203B41FA5}">
                      <a16:colId xmlns:a16="http://schemas.microsoft.com/office/drawing/2014/main" val="3461313282"/>
                    </a:ext>
                  </a:extLst>
                </a:gridCol>
                <a:gridCol w="2353521">
                  <a:extLst>
                    <a:ext uri="{9D8B030D-6E8A-4147-A177-3AD203B41FA5}">
                      <a16:colId xmlns:a16="http://schemas.microsoft.com/office/drawing/2014/main" val="1709901478"/>
                    </a:ext>
                  </a:extLst>
                </a:gridCol>
                <a:gridCol w="2353521">
                  <a:extLst>
                    <a:ext uri="{9D8B030D-6E8A-4147-A177-3AD203B41FA5}">
                      <a16:colId xmlns:a16="http://schemas.microsoft.com/office/drawing/2014/main" val="3047180167"/>
                    </a:ext>
                  </a:extLst>
                </a:gridCol>
              </a:tblGrid>
              <a:tr h="626130">
                <a:tc>
                  <a:txBody>
                    <a:bodyPr/>
                    <a:lstStyle/>
                    <a:p>
                      <a:pPr algn="ctr"/>
                      <a:r>
                        <a:rPr lang="en-IN" dirty="0"/>
                        <a:t>Ref No.</a:t>
                      </a:r>
                    </a:p>
                  </a:txBody>
                  <a:tcPr anchor="ctr"/>
                </a:tc>
                <a:tc>
                  <a:txBody>
                    <a:bodyPr/>
                    <a:lstStyle/>
                    <a:p>
                      <a:pPr algn="ctr"/>
                      <a:r>
                        <a:rPr lang="en-US" dirty="0"/>
                        <a:t>Existing Works</a:t>
                      </a:r>
                      <a:endParaRPr lang="en-IN" dirty="0"/>
                    </a:p>
                  </a:txBody>
                  <a:tcPr anchor="ctr"/>
                </a:tc>
                <a:tc>
                  <a:txBody>
                    <a:bodyPr/>
                    <a:lstStyle/>
                    <a:p>
                      <a:pPr algn="ctr"/>
                      <a:r>
                        <a:rPr lang="en-US" dirty="0"/>
                        <a:t>Key Gaps/Limitations </a:t>
                      </a:r>
                      <a:endParaRPr lang="en-IN" dirty="0"/>
                    </a:p>
                  </a:txBody>
                  <a:tcPr anchor="ctr"/>
                </a:tc>
                <a:tc>
                  <a:txBody>
                    <a:bodyPr/>
                    <a:lstStyle/>
                    <a:p>
                      <a:pPr algn="ctr"/>
                      <a:r>
                        <a:rPr lang="en-IN" dirty="0"/>
                        <a:t>Algorithm</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Your Project Addresses the Gaps</a:t>
                      </a:r>
                      <a:endParaRPr lang="en-IN" dirty="0"/>
                    </a:p>
                  </a:txBody>
                  <a:tcPr anchor="ctr"/>
                </a:tc>
                <a:extLst>
                  <a:ext uri="{0D108BD9-81ED-4DB2-BD59-A6C34878D82A}">
                    <a16:rowId xmlns:a16="http://schemas.microsoft.com/office/drawing/2014/main" val="2543460161"/>
                  </a:ext>
                </a:extLst>
              </a:tr>
              <a:tr h="1415169">
                <a:tc>
                  <a:txBody>
                    <a:bodyPr/>
                    <a:lstStyle/>
                    <a:p>
                      <a:pPr algn="ctr"/>
                      <a:r>
                        <a:rPr lang="en-IN" dirty="0"/>
                        <a:t>[1]</a:t>
                      </a:r>
                    </a:p>
                  </a:txBody>
                  <a:tcPr/>
                </a:tc>
                <a:tc>
                  <a:txBody>
                    <a:bodyPr/>
                    <a:lstStyle/>
                    <a:p>
                      <a:r>
                        <a:rPr lang="en-US" dirty="0"/>
                        <a:t>Reduced Age of Info with federated multi-agent actor–critic.</a:t>
                      </a:r>
                      <a:endParaRPr lang="en-IN" dirty="0"/>
                    </a:p>
                  </a:txBody>
                  <a:tcPr/>
                </a:tc>
                <a:tc>
                  <a:txBody>
                    <a:bodyPr/>
                    <a:lstStyle/>
                    <a:p>
                      <a:r>
                        <a:rPr lang="en-US" dirty="0"/>
                        <a:t>Focus only on </a:t>
                      </a:r>
                      <a:r>
                        <a:rPr lang="en-US" dirty="0" err="1"/>
                        <a:t>AoI</a:t>
                      </a:r>
                      <a:r>
                        <a:rPr lang="en-US" dirty="0"/>
                        <a:t>; synchronous FL; limited heterogeneity.</a:t>
                      </a:r>
                      <a:endParaRPr lang="en-IN" dirty="0"/>
                    </a:p>
                  </a:txBody>
                  <a:tcPr/>
                </a:tc>
                <a:tc>
                  <a:txBody>
                    <a:bodyPr/>
                    <a:lstStyle/>
                    <a:p>
                      <a:r>
                        <a:rPr lang="en-IN" dirty="0"/>
                        <a:t>Multi-agent actor–critic + FL.</a:t>
                      </a:r>
                    </a:p>
                  </a:txBody>
                  <a:tcPr/>
                </a:tc>
                <a:tc>
                  <a:txBody>
                    <a:bodyPr/>
                    <a:lstStyle/>
                    <a:p>
                      <a:r>
                        <a:rPr lang="en-US" dirty="0"/>
                        <a:t>My project extends to latency/energy/throughput with </a:t>
                      </a:r>
                      <a:r>
                        <a:rPr lang="en-US" b="1" dirty="0"/>
                        <a:t>RSO-tuned FL</a:t>
                      </a:r>
                      <a:r>
                        <a:rPr lang="en-US" dirty="0"/>
                        <a:t> for heterogeneous IoT.</a:t>
                      </a:r>
                      <a:endParaRPr lang="en-IN" dirty="0"/>
                    </a:p>
                  </a:txBody>
                  <a:tcPr/>
                </a:tc>
                <a:extLst>
                  <a:ext uri="{0D108BD9-81ED-4DB2-BD59-A6C34878D82A}">
                    <a16:rowId xmlns:a16="http://schemas.microsoft.com/office/drawing/2014/main" val="796575507"/>
                  </a:ext>
                </a:extLst>
              </a:tr>
              <a:tr h="1415169">
                <a:tc>
                  <a:txBody>
                    <a:bodyPr/>
                    <a:lstStyle/>
                    <a:p>
                      <a:pPr algn="ctr"/>
                      <a:r>
                        <a:rPr lang="en-IN" dirty="0"/>
                        <a:t>[2]</a:t>
                      </a:r>
                    </a:p>
                  </a:txBody>
                  <a:tcPr/>
                </a:tc>
                <a:tc>
                  <a:txBody>
                    <a:bodyPr/>
                    <a:lstStyle/>
                    <a:p>
                      <a:r>
                        <a:rPr lang="en-US" dirty="0"/>
                        <a:t>Federated PPO with physics-informed rewards for energy mgmt.</a:t>
                      </a:r>
                      <a:endParaRPr lang="en-IN" dirty="0"/>
                    </a:p>
                  </a:txBody>
                  <a:tcPr/>
                </a:tc>
                <a:tc>
                  <a:txBody>
                    <a:bodyPr/>
                    <a:lstStyle/>
                    <a:p>
                      <a:r>
                        <a:rPr lang="en-IN" dirty="0"/>
                        <a:t>Centralized updates; assumes accurate models; no optimizer tuning.</a:t>
                      </a:r>
                    </a:p>
                  </a:txBody>
                  <a:tcPr/>
                </a:tc>
                <a:tc>
                  <a:txBody>
                    <a:bodyPr/>
                    <a:lstStyle/>
                    <a:p>
                      <a:r>
                        <a:rPr lang="en-IN" dirty="0"/>
                        <a:t>Federated MADRL + PPO.</a:t>
                      </a:r>
                    </a:p>
                  </a:txBody>
                  <a:tcPr/>
                </a:tc>
                <a:tc>
                  <a:txBody>
                    <a:bodyPr/>
                    <a:lstStyle/>
                    <a:p>
                      <a:r>
                        <a:rPr lang="en-US" dirty="0"/>
                        <a:t>I add </a:t>
                      </a:r>
                      <a:r>
                        <a:rPr lang="en-US" b="1" dirty="0"/>
                        <a:t>RSO to optimize </a:t>
                      </a:r>
                      <a:r>
                        <a:rPr lang="en-US" b="1" dirty="0" err="1"/>
                        <a:t>hyperparams</a:t>
                      </a:r>
                      <a:r>
                        <a:rPr lang="en-US" b="1" dirty="0"/>
                        <a:t> + aggregation</a:t>
                      </a:r>
                      <a:r>
                        <a:rPr lang="en-US" dirty="0"/>
                        <a:t>, generalizing beyond microgrids.</a:t>
                      </a:r>
                      <a:endParaRPr lang="en-IN" dirty="0"/>
                    </a:p>
                  </a:txBody>
                  <a:tcPr/>
                </a:tc>
                <a:extLst>
                  <a:ext uri="{0D108BD9-81ED-4DB2-BD59-A6C34878D82A}">
                    <a16:rowId xmlns:a16="http://schemas.microsoft.com/office/drawing/2014/main" val="4139280791"/>
                  </a:ext>
                </a:extLst>
              </a:tr>
              <a:tr h="1615398">
                <a:tc>
                  <a:txBody>
                    <a:bodyPr/>
                    <a:lstStyle/>
                    <a:p>
                      <a:pPr algn="ctr"/>
                      <a:r>
                        <a:rPr lang="en-IN" dirty="0"/>
                        <a:t>[3]</a:t>
                      </a:r>
                    </a:p>
                  </a:txBody>
                  <a:tcPr/>
                </a:tc>
                <a:tc>
                  <a:txBody>
                    <a:bodyPr/>
                    <a:lstStyle/>
                    <a:p>
                      <a:r>
                        <a:rPr lang="en-US" dirty="0"/>
                        <a:t>Semi-asynchronous FL with PPO for task offloading.</a:t>
                      </a:r>
                      <a:endParaRPr lang="en-IN" dirty="0"/>
                    </a:p>
                  </a:txBody>
                  <a:tcPr/>
                </a:tc>
                <a:tc>
                  <a:txBody>
                    <a:bodyPr/>
                    <a:lstStyle/>
                    <a:p>
                      <a:r>
                        <a:rPr lang="en-US" dirty="0"/>
                        <a:t>Still server bottleneck; critic-only federation; no multi-objective.</a:t>
                      </a:r>
                      <a:endParaRPr lang="en-IN" dirty="0"/>
                    </a:p>
                  </a:txBody>
                  <a:tcPr/>
                </a:tc>
                <a:tc>
                  <a:txBody>
                    <a:bodyPr/>
                    <a:lstStyle/>
                    <a:p>
                      <a:r>
                        <a:rPr lang="en-IN" dirty="0"/>
                        <a:t>PPO + buffered semi-async FL.</a:t>
                      </a:r>
                    </a:p>
                  </a:txBody>
                  <a:tcPr/>
                </a:tc>
                <a:tc>
                  <a:txBody>
                    <a:bodyPr/>
                    <a:lstStyle/>
                    <a:p>
                      <a:r>
                        <a:rPr lang="en-US" dirty="0"/>
                        <a:t>My design supports </a:t>
                      </a:r>
                      <a:r>
                        <a:rPr lang="en-US" b="1" dirty="0"/>
                        <a:t>actor &amp; critic federation</a:t>
                      </a:r>
                      <a:r>
                        <a:rPr lang="en-US" dirty="0"/>
                        <a:t> with </a:t>
                      </a:r>
                      <a:r>
                        <a:rPr lang="en-US" b="1" dirty="0"/>
                        <a:t>RSO-optimized staleness/aggregation</a:t>
                      </a:r>
                      <a:r>
                        <a:rPr lang="en-US" dirty="0"/>
                        <a:t>.</a:t>
                      </a:r>
                      <a:endParaRPr lang="en-IN" dirty="0"/>
                    </a:p>
                  </a:txBody>
                  <a:tcPr/>
                </a:tc>
                <a:extLst>
                  <a:ext uri="{0D108BD9-81ED-4DB2-BD59-A6C34878D82A}">
                    <a16:rowId xmlns:a16="http://schemas.microsoft.com/office/drawing/2014/main" val="2495907860"/>
                  </a:ext>
                </a:extLst>
              </a:tr>
            </a:tbl>
          </a:graphicData>
        </a:graphic>
      </p:graphicFrame>
      <p:sp>
        <p:nvSpPr>
          <p:cNvPr id="13" name="Date Placeholder 3">
            <a:extLst>
              <a:ext uri="{FF2B5EF4-FFF2-40B4-BE49-F238E27FC236}">
                <a16:creationId xmlns:a16="http://schemas.microsoft.com/office/drawing/2014/main" id="{5A7A1348-68F7-EA91-EAFE-5B3EC680D20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1FFB97E3-AE8E-55EB-9F91-20FDDBF34DFA}"/>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5A78E1C5-97FB-6677-7CC1-126AA4153A0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6</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4180936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27B9-DEFE-F143-C840-FD6965FE573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3C1E4D7-ABB0-C589-B0A4-540CF639C9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CE80676E-0C64-E054-95BE-14C6A2AB6140}"/>
              </a:ext>
            </a:extLst>
          </p:cNvPr>
          <p:cNvSpPr txBox="1"/>
          <p:nvPr/>
        </p:nvSpPr>
        <p:spPr>
          <a:xfrm>
            <a:off x="470042" y="305344"/>
            <a:ext cx="6097712" cy="584775"/>
          </a:xfrm>
          <a:prstGeom prst="rect">
            <a:avLst/>
          </a:prstGeom>
          <a:noFill/>
        </p:spPr>
        <p:txBody>
          <a:bodyPr wrap="square">
            <a:spAutoFit/>
          </a:bodyPr>
          <a:lstStyle/>
          <a:p>
            <a:pPr>
              <a:buNone/>
            </a:pPr>
            <a:r>
              <a:rPr lang="en-US" sz="3200" b="1" dirty="0">
                <a:latin typeface="Book Antiqua" panose="02040602050305030304" pitchFamily="18" charset="0"/>
              </a:rPr>
              <a:t>Literature Survey Summary</a:t>
            </a:r>
          </a:p>
        </p:txBody>
      </p:sp>
      <p:graphicFrame>
        <p:nvGraphicFramePr>
          <p:cNvPr id="8" name="Table 7">
            <a:extLst>
              <a:ext uri="{FF2B5EF4-FFF2-40B4-BE49-F238E27FC236}">
                <a16:creationId xmlns:a16="http://schemas.microsoft.com/office/drawing/2014/main" id="{65766E31-D5D7-11C3-0D7B-851FD2282589}"/>
              </a:ext>
            </a:extLst>
          </p:cNvPr>
          <p:cNvGraphicFramePr>
            <a:graphicFrameLocks noGrp="1"/>
          </p:cNvGraphicFramePr>
          <p:nvPr>
            <p:extLst>
              <p:ext uri="{D42A27DB-BD31-4B8C-83A1-F6EECF244321}">
                <p14:modId xmlns:p14="http://schemas.microsoft.com/office/powerpoint/2010/main" val="888918793"/>
              </p:ext>
            </p:extLst>
          </p:nvPr>
        </p:nvGraphicFramePr>
        <p:xfrm>
          <a:off x="324196" y="1079553"/>
          <a:ext cx="11767605" cy="5085816"/>
        </p:xfrm>
        <a:graphic>
          <a:graphicData uri="http://schemas.openxmlformats.org/drawingml/2006/table">
            <a:tbl>
              <a:tblPr firstRow="1" bandRow="1">
                <a:tableStyleId>{7DF18680-E054-41AD-8BC1-D1AEF772440D}</a:tableStyleId>
              </a:tblPr>
              <a:tblGrid>
                <a:gridCol w="2353521">
                  <a:extLst>
                    <a:ext uri="{9D8B030D-6E8A-4147-A177-3AD203B41FA5}">
                      <a16:colId xmlns:a16="http://schemas.microsoft.com/office/drawing/2014/main" val="2117232728"/>
                    </a:ext>
                  </a:extLst>
                </a:gridCol>
                <a:gridCol w="2353521">
                  <a:extLst>
                    <a:ext uri="{9D8B030D-6E8A-4147-A177-3AD203B41FA5}">
                      <a16:colId xmlns:a16="http://schemas.microsoft.com/office/drawing/2014/main" val="2203765823"/>
                    </a:ext>
                  </a:extLst>
                </a:gridCol>
                <a:gridCol w="2353521">
                  <a:extLst>
                    <a:ext uri="{9D8B030D-6E8A-4147-A177-3AD203B41FA5}">
                      <a16:colId xmlns:a16="http://schemas.microsoft.com/office/drawing/2014/main" val="3461313282"/>
                    </a:ext>
                  </a:extLst>
                </a:gridCol>
                <a:gridCol w="2353521">
                  <a:extLst>
                    <a:ext uri="{9D8B030D-6E8A-4147-A177-3AD203B41FA5}">
                      <a16:colId xmlns:a16="http://schemas.microsoft.com/office/drawing/2014/main" val="1709901478"/>
                    </a:ext>
                  </a:extLst>
                </a:gridCol>
                <a:gridCol w="2353521">
                  <a:extLst>
                    <a:ext uri="{9D8B030D-6E8A-4147-A177-3AD203B41FA5}">
                      <a16:colId xmlns:a16="http://schemas.microsoft.com/office/drawing/2014/main" val="3047180167"/>
                    </a:ext>
                  </a:extLst>
                </a:gridCol>
              </a:tblGrid>
              <a:tr h="626130">
                <a:tc>
                  <a:txBody>
                    <a:bodyPr/>
                    <a:lstStyle/>
                    <a:p>
                      <a:pPr algn="ctr"/>
                      <a:r>
                        <a:rPr lang="en-IN" dirty="0"/>
                        <a:t>Ref No.</a:t>
                      </a:r>
                    </a:p>
                  </a:txBody>
                  <a:tcPr anchor="ctr"/>
                </a:tc>
                <a:tc>
                  <a:txBody>
                    <a:bodyPr/>
                    <a:lstStyle/>
                    <a:p>
                      <a:pPr algn="ctr"/>
                      <a:r>
                        <a:rPr lang="en-US" dirty="0"/>
                        <a:t>Existing Works</a:t>
                      </a:r>
                      <a:endParaRPr lang="en-IN" dirty="0"/>
                    </a:p>
                  </a:txBody>
                  <a:tcPr anchor="ctr"/>
                </a:tc>
                <a:tc>
                  <a:txBody>
                    <a:bodyPr/>
                    <a:lstStyle/>
                    <a:p>
                      <a:pPr algn="ctr"/>
                      <a:r>
                        <a:rPr lang="en-US" dirty="0"/>
                        <a:t>Key Gaps/Limitations </a:t>
                      </a:r>
                      <a:endParaRPr lang="en-IN" dirty="0"/>
                    </a:p>
                  </a:txBody>
                  <a:tcPr anchor="ctr"/>
                </a:tc>
                <a:tc>
                  <a:txBody>
                    <a:bodyPr/>
                    <a:lstStyle/>
                    <a:p>
                      <a:pPr algn="ctr"/>
                      <a:r>
                        <a:rPr lang="en-IN" dirty="0"/>
                        <a:t>Algorithm</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Your Project Addresses the Gaps</a:t>
                      </a:r>
                      <a:endParaRPr lang="en-IN" dirty="0"/>
                    </a:p>
                  </a:txBody>
                  <a:tcPr anchor="ctr"/>
                </a:tc>
                <a:extLst>
                  <a:ext uri="{0D108BD9-81ED-4DB2-BD59-A6C34878D82A}">
                    <a16:rowId xmlns:a16="http://schemas.microsoft.com/office/drawing/2014/main" val="2543460161"/>
                  </a:ext>
                </a:extLst>
              </a:tr>
              <a:tr h="1415169">
                <a:tc>
                  <a:txBody>
                    <a:bodyPr/>
                    <a:lstStyle/>
                    <a:p>
                      <a:pPr algn="ctr"/>
                      <a:r>
                        <a:rPr lang="en-IN" dirty="0"/>
                        <a:t>[4]</a:t>
                      </a:r>
                    </a:p>
                  </a:txBody>
                  <a:tcPr/>
                </a:tc>
                <a:tc>
                  <a:txBody>
                    <a:bodyPr/>
                    <a:lstStyle/>
                    <a:p>
                      <a:r>
                        <a:rPr lang="en-US" dirty="0"/>
                        <a:t>Meta-RL with Seq2Seq policy, wireless charging.</a:t>
                      </a:r>
                      <a:endParaRPr lang="en-IN" dirty="0"/>
                    </a:p>
                  </a:txBody>
                  <a:tcPr/>
                </a:tc>
                <a:tc>
                  <a:txBody>
                    <a:bodyPr/>
                    <a:lstStyle/>
                    <a:p>
                      <a:r>
                        <a:rPr lang="en-US" dirty="0"/>
                        <a:t>Single-agent; no FL; no edge heterogeneity..</a:t>
                      </a:r>
                      <a:endParaRPr lang="en-IN" dirty="0"/>
                    </a:p>
                  </a:txBody>
                  <a:tcPr/>
                </a:tc>
                <a:tc>
                  <a:txBody>
                    <a:bodyPr/>
                    <a:lstStyle/>
                    <a:p>
                      <a:r>
                        <a:rPr lang="en-IN" dirty="0"/>
                        <a:t>Meta-RL + Seq2Seq.</a:t>
                      </a:r>
                    </a:p>
                  </a:txBody>
                  <a:tcPr/>
                </a:tc>
                <a:tc>
                  <a:txBody>
                    <a:bodyPr/>
                    <a:lstStyle/>
                    <a:p>
                      <a:r>
                        <a:rPr lang="en-US" dirty="0"/>
                        <a:t>I use </a:t>
                      </a:r>
                      <a:r>
                        <a:rPr lang="en-US" b="1" dirty="0"/>
                        <a:t>federated multi-agent actor–critic</a:t>
                      </a:r>
                      <a:r>
                        <a:rPr lang="en-US" dirty="0"/>
                        <a:t> + </a:t>
                      </a:r>
                      <a:r>
                        <a:rPr lang="en-US" b="1" dirty="0"/>
                        <a:t>RSO</a:t>
                      </a:r>
                      <a:r>
                        <a:rPr lang="en-US" dirty="0"/>
                        <a:t> for scalable edge adaptation.</a:t>
                      </a:r>
                      <a:endParaRPr lang="en-IN" dirty="0"/>
                    </a:p>
                  </a:txBody>
                  <a:tcPr/>
                </a:tc>
                <a:extLst>
                  <a:ext uri="{0D108BD9-81ED-4DB2-BD59-A6C34878D82A}">
                    <a16:rowId xmlns:a16="http://schemas.microsoft.com/office/drawing/2014/main" val="796575507"/>
                  </a:ext>
                </a:extLst>
              </a:tr>
              <a:tr h="1415169">
                <a:tc>
                  <a:txBody>
                    <a:bodyPr/>
                    <a:lstStyle/>
                    <a:p>
                      <a:pPr algn="ctr"/>
                      <a:r>
                        <a:rPr lang="en-IN" dirty="0"/>
                        <a:t>[5]</a:t>
                      </a:r>
                    </a:p>
                  </a:txBody>
                  <a:tcPr/>
                </a:tc>
                <a:tc>
                  <a:txBody>
                    <a:bodyPr/>
                    <a:lstStyle/>
                    <a:p>
                      <a:r>
                        <a:rPr lang="en-US" dirty="0"/>
                        <a:t>Actor–Critic PPO, gradient sharing across devices.</a:t>
                      </a:r>
                      <a:endParaRPr lang="en-IN" dirty="0"/>
                    </a:p>
                  </a:txBody>
                  <a:tcPr/>
                </a:tc>
                <a:tc>
                  <a:txBody>
                    <a:bodyPr/>
                    <a:lstStyle/>
                    <a:p>
                      <a:r>
                        <a:rPr lang="en-US" dirty="0"/>
                        <a:t>Limited heterogeneity; sync updates; no resource awareness.</a:t>
                      </a:r>
                      <a:endParaRPr lang="en-IN" dirty="0"/>
                    </a:p>
                  </a:txBody>
                  <a:tcPr/>
                </a:tc>
                <a:tc>
                  <a:txBody>
                    <a:bodyPr/>
                    <a:lstStyle/>
                    <a:p>
                      <a:r>
                        <a:rPr lang="en-IN" dirty="0"/>
                        <a:t>FL + Actor–Critic PPO.</a:t>
                      </a:r>
                    </a:p>
                  </a:txBody>
                  <a:tcPr/>
                </a:tc>
                <a:tc>
                  <a:txBody>
                    <a:bodyPr/>
                    <a:lstStyle/>
                    <a:p>
                      <a:r>
                        <a:rPr lang="en-US" dirty="0"/>
                        <a:t>My approach handles </a:t>
                      </a:r>
                      <a:r>
                        <a:rPr lang="en-US" b="1" dirty="0"/>
                        <a:t>heterogeneous IoT edges</a:t>
                      </a:r>
                      <a:r>
                        <a:rPr lang="en-US" dirty="0"/>
                        <a:t> with </a:t>
                      </a:r>
                      <a:r>
                        <a:rPr lang="en-US" b="1" dirty="0"/>
                        <a:t>RSO-tuned federation</a:t>
                      </a:r>
                      <a:r>
                        <a:rPr lang="en-US" dirty="0"/>
                        <a:t>.</a:t>
                      </a:r>
                      <a:endParaRPr lang="en-IN" dirty="0"/>
                    </a:p>
                  </a:txBody>
                  <a:tcPr/>
                </a:tc>
                <a:extLst>
                  <a:ext uri="{0D108BD9-81ED-4DB2-BD59-A6C34878D82A}">
                    <a16:rowId xmlns:a16="http://schemas.microsoft.com/office/drawing/2014/main" val="4139280791"/>
                  </a:ext>
                </a:extLst>
              </a:tr>
              <a:tr h="1615398">
                <a:tc>
                  <a:txBody>
                    <a:bodyPr/>
                    <a:lstStyle/>
                    <a:p>
                      <a:pPr algn="ctr"/>
                      <a:r>
                        <a:rPr lang="en-IN" dirty="0"/>
                        <a:t>[6]</a:t>
                      </a:r>
                    </a:p>
                  </a:txBody>
                  <a:tcPr/>
                </a:tc>
                <a:tc>
                  <a:txBody>
                    <a:bodyPr/>
                    <a:lstStyle/>
                    <a:p>
                      <a:r>
                        <a:rPr lang="en-US" dirty="0"/>
                        <a:t>DDPG-based FL for vehicular edge offloading.</a:t>
                      </a:r>
                      <a:endParaRPr lang="en-IN" dirty="0"/>
                    </a:p>
                  </a:txBody>
                  <a:tcPr/>
                </a:tc>
                <a:tc>
                  <a:txBody>
                    <a:bodyPr/>
                    <a:lstStyle/>
                    <a:p>
                      <a:r>
                        <a:rPr lang="en-US" dirty="0"/>
                        <a:t>Centralized controller; only DDPG; ignores asynchrony.</a:t>
                      </a:r>
                      <a:endParaRPr lang="en-IN" dirty="0"/>
                    </a:p>
                  </a:txBody>
                  <a:tcPr/>
                </a:tc>
                <a:tc>
                  <a:txBody>
                    <a:bodyPr/>
                    <a:lstStyle/>
                    <a:p>
                      <a:r>
                        <a:rPr lang="en-IN" dirty="0"/>
                        <a:t>FL-DDPG.</a:t>
                      </a:r>
                    </a:p>
                  </a:txBody>
                  <a:tcPr/>
                </a:tc>
                <a:tc>
                  <a:txBody>
                    <a:bodyPr/>
                    <a:lstStyle/>
                    <a:p>
                      <a:r>
                        <a:rPr lang="en-US" dirty="0"/>
                        <a:t>My project broadens to </a:t>
                      </a:r>
                      <a:r>
                        <a:rPr lang="en-US" b="1" dirty="0"/>
                        <a:t>multi-agent actor–critic + RSO</a:t>
                      </a:r>
                      <a:r>
                        <a:rPr lang="en-US" dirty="0"/>
                        <a:t> for non-IID, async IoT edges.</a:t>
                      </a:r>
                      <a:endParaRPr lang="en-IN" dirty="0"/>
                    </a:p>
                  </a:txBody>
                  <a:tcPr/>
                </a:tc>
                <a:extLst>
                  <a:ext uri="{0D108BD9-81ED-4DB2-BD59-A6C34878D82A}">
                    <a16:rowId xmlns:a16="http://schemas.microsoft.com/office/drawing/2014/main" val="2495907860"/>
                  </a:ext>
                </a:extLst>
              </a:tr>
            </a:tbl>
          </a:graphicData>
        </a:graphic>
      </p:graphicFrame>
      <p:sp>
        <p:nvSpPr>
          <p:cNvPr id="13" name="Date Placeholder 3">
            <a:extLst>
              <a:ext uri="{FF2B5EF4-FFF2-40B4-BE49-F238E27FC236}">
                <a16:creationId xmlns:a16="http://schemas.microsoft.com/office/drawing/2014/main" id="{0EFC5656-CCA4-5507-6296-4C2A7451F625}"/>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8EA15BB2-6FEF-3853-1D97-E494C90DBF55}"/>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0CA37A92-5E46-D245-4F3C-FCED85E3D5F7}"/>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7</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222850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18EF1-827C-8A5A-1DDD-9DB189A9D37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474A012-7BAA-D351-78E0-C3BACB7EF4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10" name="TextBox 9">
            <a:extLst>
              <a:ext uri="{FF2B5EF4-FFF2-40B4-BE49-F238E27FC236}">
                <a16:creationId xmlns:a16="http://schemas.microsoft.com/office/drawing/2014/main" id="{16E9653E-7036-4F60-3CC0-136FC81C2E3E}"/>
              </a:ext>
            </a:extLst>
          </p:cNvPr>
          <p:cNvSpPr txBox="1"/>
          <p:nvPr/>
        </p:nvSpPr>
        <p:spPr>
          <a:xfrm>
            <a:off x="406981" y="244958"/>
            <a:ext cx="6097712" cy="584775"/>
          </a:xfrm>
          <a:prstGeom prst="rect">
            <a:avLst/>
          </a:prstGeom>
          <a:noFill/>
        </p:spPr>
        <p:txBody>
          <a:bodyPr wrap="square">
            <a:spAutoFit/>
          </a:bodyPr>
          <a:lstStyle/>
          <a:p>
            <a:r>
              <a:rPr lang="en-IN" sz="3200" b="1" dirty="0">
                <a:latin typeface="Book Antiqua" panose="02040602050305030304" pitchFamily="18" charset="0"/>
              </a:rPr>
              <a:t>Proposed Methodology</a:t>
            </a:r>
          </a:p>
        </p:txBody>
      </p:sp>
      <p:sp>
        <p:nvSpPr>
          <p:cNvPr id="11" name="Rectangle 1">
            <a:extLst>
              <a:ext uri="{FF2B5EF4-FFF2-40B4-BE49-F238E27FC236}">
                <a16:creationId xmlns:a16="http://schemas.microsoft.com/office/drawing/2014/main" id="{3C3C37D4-3ACE-9332-E768-543F2CB1E6A4}"/>
              </a:ext>
            </a:extLst>
          </p:cNvPr>
          <p:cNvSpPr>
            <a:spLocks noChangeArrowheads="1"/>
          </p:cNvSpPr>
          <p:nvPr/>
        </p:nvSpPr>
        <p:spPr bwMode="auto">
          <a:xfrm>
            <a:off x="439411" y="1628588"/>
            <a:ext cx="11817564"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3" name="Date Placeholder 3">
            <a:extLst>
              <a:ext uri="{FF2B5EF4-FFF2-40B4-BE49-F238E27FC236}">
                <a16:creationId xmlns:a16="http://schemas.microsoft.com/office/drawing/2014/main" id="{10055DF2-87BA-8C92-25AC-F418482690D5}"/>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2F76FF4A-9E85-46CF-24EE-C3A9A366BE95}"/>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ADA7AE1D-21E2-EE1A-135F-CDE7AC441482}"/>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8</a:t>
            </a:fld>
            <a:endParaRPr lang="en-IN" sz="1200" dirty="0">
              <a:solidFill>
                <a:schemeClr val="accent3"/>
              </a:solidFill>
              <a:latin typeface="Aptos" panose="020B0004020202020204" pitchFamily="34" charset="0"/>
            </a:endParaRPr>
          </a:p>
        </p:txBody>
      </p:sp>
      <p:cxnSp>
        <p:nvCxnSpPr>
          <p:cNvPr id="4" name="Straight Connector 3">
            <a:extLst>
              <a:ext uri="{FF2B5EF4-FFF2-40B4-BE49-F238E27FC236}">
                <a16:creationId xmlns:a16="http://schemas.microsoft.com/office/drawing/2014/main" id="{8846D196-08B7-D135-60C6-158117723E40}"/>
              </a:ext>
            </a:extLst>
          </p:cNvPr>
          <p:cNvCxnSpPr>
            <a:cxnSpLocks/>
          </p:cNvCxnSpPr>
          <p:nvPr/>
        </p:nvCxnSpPr>
        <p:spPr>
          <a:xfrm>
            <a:off x="439411" y="829733"/>
            <a:ext cx="10250756" cy="30032"/>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92992EFB-AB19-7DE2-C6AD-F28B1E652434}"/>
              </a:ext>
            </a:extLst>
          </p:cNvPr>
          <p:cNvSpPr txBox="1"/>
          <p:nvPr/>
        </p:nvSpPr>
        <p:spPr>
          <a:xfrm>
            <a:off x="439411" y="1028343"/>
            <a:ext cx="11313178" cy="4801314"/>
          </a:xfrm>
          <a:prstGeom prst="rect">
            <a:avLst/>
          </a:prstGeom>
          <a:noFill/>
        </p:spPr>
        <p:txBody>
          <a:bodyPr wrap="square" rtlCol="0">
            <a:spAutoFit/>
          </a:bodyPr>
          <a:lstStyle/>
          <a:p>
            <a:r>
              <a:rPr lang="en-IN" b="1" dirty="0"/>
              <a:t>Tools &amp; Technologies</a:t>
            </a:r>
          </a:p>
          <a:p>
            <a:pPr marL="285750" indent="-285750" algn="just">
              <a:buFont typeface="Arial" panose="020B0604020202020204" pitchFamily="34" charset="0"/>
              <a:buChar char="•"/>
            </a:pPr>
            <a:r>
              <a:rPr lang="en-IN" b="1" dirty="0"/>
              <a:t>Programming Language: </a:t>
            </a:r>
            <a:r>
              <a:rPr lang="en-IN" dirty="0"/>
              <a:t>Python</a:t>
            </a:r>
          </a:p>
          <a:p>
            <a:pPr marL="285750" indent="-285750" algn="just">
              <a:buFont typeface="Arial" panose="020B0604020202020204" pitchFamily="34" charset="0"/>
              <a:buChar char="•"/>
            </a:pPr>
            <a:r>
              <a:rPr lang="en-IN" b="1" dirty="0"/>
              <a:t>Frameworks: </a:t>
            </a:r>
            <a:r>
              <a:rPr lang="en-IN" dirty="0" err="1"/>
              <a:t>PyTorch</a:t>
            </a:r>
            <a:r>
              <a:rPr lang="en-IN" dirty="0"/>
              <a:t> (for reinforcement learning), NumPy, Matplotlib</a:t>
            </a:r>
          </a:p>
          <a:p>
            <a:pPr marL="285750" indent="-285750" algn="just">
              <a:buFont typeface="Arial" panose="020B0604020202020204" pitchFamily="34" charset="0"/>
              <a:buChar char="•"/>
            </a:pPr>
            <a:r>
              <a:rPr lang="en-IN" b="1" dirty="0"/>
              <a:t>Federated Learning Framework: </a:t>
            </a:r>
            <a:r>
              <a:rPr lang="en-IN" dirty="0"/>
              <a:t>Custom Federated Averaging (</a:t>
            </a:r>
            <a:r>
              <a:rPr lang="en-IN" dirty="0" err="1"/>
              <a:t>FedAvg</a:t>
            </a:r>
            <a:r>
              <a:rPr lang="en-IN" dirty="0"/>
              <a:t>) integration</a:t>
            </a:r>
          </a:p>
          <a:p>
            <a:pPr marL="285750" indent="-285750" algn="just">
              <a:buFont typeface="Arial" panose="020B0604020202020204" pitchFamily="34" charset="0"/>
              <a:buChar char="•"/>
            </a:pPr>
            <a:r>
              <a:rPr lang="en-IN" b="1" dirty="0"/>
              <a:t>Optimization Algorithm: </a:t>
            </a:r>
            <a:r>
              <a:rPr lang="en-IN" dirty="0"/>
              <a:t>Rat Swarm Optimization (RSO)</a:t>
            </a:r>
          </a:p>
          <a:p>
            <a:pPr marL="285750" indent="-285750" algn="just">
              <a:buFont typeface="Arial" panose="020B0604020202020204" pitchFamily="34" charset="0"/>
              <a:buChar char="•"/>
            </a:pPr>
            <a:r>
              <a:rPr lang="en-IN" b="1" dirty="0"/>
              <a:t>Simulation Environment: </a:t>
            </a:r>
            <a:r>
              <a:rPr lang="en-IN" dirty="0"/>
              <a:t>Custom Edge-IoT environment for multi-agent interaction</a:t>
            </a:r>
          </a:p>
          <a:p>
            <a:pPr marL="285750" indent="-285750" algn="just">
              <a:buFont typeface="Arial" panose="020B0604020202020204" pitchFamily="34" charset="0"/>
              <a:buChar char="•"/>
            </a:pPr>
            <a:endParaRPr lang="en-IN" dirty="0"/>
          </a:p>
          <a:p>
            <a:pPr algn="just"/>
            <a:endParaRPr lang="en-IN" dirty="0"/>
          </a:p>
          <a:p>
            <a:r>
              <a:rPr lang="en-IN" b="1" dirty="0"/>
              <a:t>Workflow / Block Diagram </a:t>
            </a:r>
          </a:p>
          <a:p>
            <a:pPr marL="285750" indent="-285750" algn="just">
              <a:buFont typeface="Arial" panose="020B0604020202020204" pitchFamily="34" charset="0"/>
              <a:buChar char="•"/>
            </a:pPr>
            <a:r>
              <a:rPr lang="en-IN" b="1" dirty="0"/>
              <a:t>Edge-IoT Simulation Setup → </a:t>
            </a:r>
            <a:r>
              <a:rPr lang="en-IN" dirty="0"/>
              <a:t>multiple agents interacting in IoT-like environment (with latency, energy, throughput constraints).</a:t>
            </a:r>
          </a:p>
          <a:p>
            <a:pPr marL="285750" indent="-285750" algn="just">
              <a:buFont typeface="Arial" panose="020B0604020202020204" pitchFamily="34" charset="0"/>
              <a:buChar char="•"/>
            </a:pPr>
            <a:r>
              <a:rPr lang="en-IN" b="1" dirty="0"/>
              <a:t>Agent Training (LSTM + Attention Actor-Critic) → </a:t>
            </a:r>
            <a:r>
              <a:rPr lang="en-IN" dirty="0"/>
              <a:t>each agent learns policies locally.</a:t>
            </a:r>
          </a:p>
          <a:p>
            <a:pPr marL="285750" indent="-285750" algn="just">
              <a:buFont typeface="Arial" panose="020B0604020202020204" pitchFamily="34" charset="0"/>
              <a:buChar char="•"/>
            </a:pPr>
            <a:r>
              <a:rPr lang="en-IN" b="1" dirty="0"/>
              <a:t>Federated Aggregation (</a:t>
            </a:r>
            <a:r>
              <a:rPr lang="en-IN" b="1" dirty="0" err="1"/>
              <a:t>FedAvg</a:t>
            </a:r>
            <a:r>
              <a:rPr lang="en-IN" b="1" dirty="0"/>
              <a:t>) →</a:t>
            </a:r>
            <a:r>
              <a:rPr lang="en-IN" dirty="0"/>
              <a:t> agents’ parameters aggregated at server to maintain collaboration.</a:t>
            </a:r>
          </a:p>
          <a:p>
            <a:pPr marL="285750" indent="-285750" algn="just">
              <a:buFont typeface="Arial" panose="020B0604020202020204" pitchFamily="34" charset="0"/>
              <a:buChar char="•"/>
            </a:pPr>
            <a:r>
              <a:rPr lang="en-IN" b="1" dirty="0"/>
              <a:t>Optimization (RSO) → </a:t>
            </a:r>
            <a:r>
              <a:rPr lang="en-IN" dirty="0"/>
              <a:t>optimized global model weights for better balance of latency, energy, and accuracy.</a:t>
            </a:r>
          </a:p>
          <a:p>
            <a:pPr marL="285750" indent="-285750" algn="just">
              <a:buFont typeface="Arial" panose="020B0604020202020204" pitchFamily="34" charset="0"/>
              <a:buChar char="•"/>
            </a:pPr>
            <a:r>
              <a:rPr lang="en-IN" b="1" dirty="0"/>
              <a:t>Performance Evaluation → </a:t>
            </a:r>
            <a:r>
              <a:rPr lang="en-IN" dirty="0"/>
              <a:t>track metrics: reward, actor/critic loss, entropy, latency, energy consumption, throughput.</a:t>
            </a:r>
          </a:p>
          <a:p>
            <a:pPr algn="just"/>
            <a:endParaRPr lang="en-IN" dirty="0"/>
          </a:p>
        </p:txBody>
      </p:sp>
    </p:spTree>
    <p:extLst>
      <p:ext uri="{BB962C8B-B14F-4D97-AF65-F5344CB8AC3E}">
        <p14:creationId xmlns:p14="http://schemas.microsoft.com/office/powerpoint/2010/main" val="241599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964BE-39EB-C98F-3B56-0C976822D91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41AE5D4-DFAD-2D7D-1A87-AD21FCEBD4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10" name="TextBox 9">
            <a:extLst>
              <a:ext uri="{FF2B5EF4-FFF2-40B4-BE49-F238E27FC236}">
                <a16:creationId xmlns:a16="http://schemas.microsoft.com/office/drawing/2014/main" id="{9D3D5A58-4BC9-D6BF-8F3F-2FFC368B352F}"/>
              </a:ext>
            </a:extLst>
          </p:cNvPr>
          <p:cNvSpPr txBox="1"/>
          <p:nvPr/>
        </p:nvSpPr>
        <p:spPr>
          <a:xfrm>
            <a:off x="406981" y="244958"/>
            <a:ext cx="6097712" cy="584775"/>
          </a:xfrm>
          <a:prstGeom prst="rect">
            <a:avLst/>
          </a:prstGeom>
          <a:noFill/>
        </p:spPr>
        <p:txBody>
          <a:bodyPr wrap="square">
            <a:spAutoFit/>
          </a:bodyPr>
          <a:lstStyle/>
          <a:p>
            <a:r>
              <a:rPr lang="en-IN" sz="3200" b="1" dirty="0">
                <a:latin typeface="Book Antiqua" panose="02040602050305030304" pitchFamily="18" charset="0"/>
              </a:rPr>
              <a:t>Proposed Methodology</a:t>
            </a:r>
          </a:p>
        </p:txBody>
      </p:sp>
      <p:sp>
        <p:nvSpPr>
          <p:cNvPr id="11" name="Rectangle 1">
            <a:extLst>
              <a:ext uri="{FF2B5EF4-FFF2-40B4-BE49-F238E27FC236}">
                <a16:creationId xmlns:a16="http://schemas.microsoft.com/office/drawing/2014/main" id="{CA8E25B4-BAF5-369D-323D-712A29A38ED9}"/>
              </a:ext>
            </a:extLst>
          </p:cNvPr>
          <p:cNvSpPr>
            <a:spLocks noChangeArrowheads="1"/>
          </p:cNvSpPr>
          <p:nvPr/>
        </p:nvSpPr>
        <p:spPr bwMode="auto">
          <a:xfrm>
            <a:off x="439411" y="1628588"/>
            <a:ext cx="11817564"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3" name="Date Placeholder 3">
            <a:extLst>
              <a:ext uri="{FF2B5EF4-FFF2-40B4-BE49-F238E27FC236}">
                <a16:creationId xmlns:a16="http://schemas.microsoft.com/office/drawing/2014/main" id="{3B4BF06C-16D6-5C9E-0026-57524AF17B6F}"/>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ECEEF832-0194-3860-295B-B5A1894C3E19}"/>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C3E728B1-FBB2-A196-CBB6-FFF0FC8C0F1D}"/>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9</a:t>
            </a:fld>
            <a:endParaRPr lang="en-IN" sz="1200" dirty="0">
              <a:solidFill>
                <a:schemeClr val="accent3"/>
              </a:solidFill>
              <a:latin typeface="Aptos" panose="020B0004020202020204" pitchFamily="34" charset="0"/>
            </a:endParaRPr>
          </a:p>
        </p:txBody>
      </p:sp>
      <p:cxnSp>
        <p:nvCxnSpPr>
          <p:cNvPr id="4" name="Straight Connector 3">
            <a:extLst>
              <a:ext uri="{FF2B5EF4-FFF2-40B4-BE49-F238E27FC236}">
                <a16:creationId xmlns:a16="http://schemas.microsoft.com/office/drawing/2014/main" id="{06C2AC01-28DC-E0AB-9554-802D01F4E92C}"/>
              </a:ext>
            </a:extLst>
          </p:cNvPr>
          <p:cNvCxnSpPr>
            <a:cxnSpLocks/>
          </p:cNvCxnSpPr>
          <p:nvPr/>
        </p:nvCxnSpPr>
        <p:spPr>
          <a:xfrm>
            <a:off x="439411" y="829733"/>
            <a:ext cx="10250756" cy="30032"/>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DE26128D-A961-EE6C-2578-8EE446AF0D3D}"/>
              </a:ext>
            </a:extLst>
          </p:cNvPr>
          <p:cNvSpPr txBox="1"/>
          <p:nvPr/>
        </p:nvSpPr>
        <p:spPr>
          <a:xfrm>
            <a:off x="464479" y="1414508"/>
            <a:ext cx="11288110" cy="1200329"/>
          </a:xfrm>
          <a:prstGeom prst="rect">
            <a:avLst/>
          </a:prstGeom>
          <a:noFill/>
        </p:spPr>
        <p:txBody>
          <a:bodyPr wrap="square" rtlCol="0">
            <a:spAutoFit/>
          </a:bodyPr>
          <a:lstStyle/>
          <a:p>
            <a:r>
              <a:rPr lang="en-US" b="1" dirty="0"/>
              <a:t>Data Sources</a:t>
            </a:r>
          </a:p>
          <a:p>
            <a:pPr marL="285750" indent="-285750" algn="just">
              <a:buFont typeface="Arial" panose="020B0604020202020204" pitchFamily="34" charset="0"/>
              <a:buChar char="•"/>
            </a:pPr>
            <a:r>
              <a:rPr lang="en-US" dirty="0"/>
              <a:t>Synthetic IoT data generated from the custom simulation environment.</a:t>
            </a:r>
          </a:p>
          <a:p>
            <a:pPr marL="285750" indent="-285750" algn="just">
              <a:buFont typeface="Arial" panose="020B0604020202020204" pitchFamily="34" charset="0"/>
              <a:buChar char="•"/>
            </a:pPr>
            <a:r>
              <a:rPr lang="en-US" dirty="0"/>
              <a:t>No external datasets required, as focus is on reinforcement learning interaction rather than supervised training.</a:t>
            </a:r>
          </a:p>
          <a:p>
            <a:endParaRPr lang="en-IN" dirty="0"/>
          </a:p>
        </p:txBody>
      </p:sp>
    </p:spTree>
    <p:extLst>
      <p:ext uri="{BB962C8B-B14F-4D97-AF65-F5344CB8AC3E}">
        <p14:creationId xmlns:p14="http://schemas.microsoft.com/office/powerpoint/2010/main" val="847362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CFFE-0E57-6C12-C7C0-DFC70253D74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69F9C9C-0D4F-5D8B-BD8E-8E20F3C21D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C1766489-E1FE-962C-85E0-4FE40C0A7900}"/>
              </a:ext>
            </a:extLst>
          </p:cNvPr>
          <p:cNvSpPr txBox="1"/>
          <p:nvPr/>
        </p:nvSpPr>
        <p:spPr>
          <a:xfrm>
            <a:off x="922104" y="978551"/>
            <a:ext cx="10058429" cy="4899868"/>
          </a:xfrm>
          <a:prstGeom prst="rect">
            <a:avLst/>
          </a:prstGeom>
          <a:noFill/>
        </p:spPr>
        <p:txBody>
          <a:bodyPr wrap="square">
            <a:spAutoFit/>
          </a:bodyPr>
          <a:lstStyle/>
          <a:p>
            <a:pPr marL="285750" indent="-285750" algn="just">
              <a:buFont typeface="Arial" panose="020B0604020202020204" pitchFamily="34" charset="0"/>
              <a:buChar char="•"/>
            </a:pPr>
            <a:r>
              <a:rPr lang="en-US" b="1" dirty="0"/>
              <a:t>Hybrid Framework: </a:t>
            </a:r>
            <a:r>
              <a:rPr lang="en-US" dirty="0"/>
              <a:t>Combines Federated Multi-Agent Actor-Critic Reinforcement Learning with Rat Swarm Optimization (RSO) — a unique integration rarely explored in IoT edge environments.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Optimization Beyond </a:t>
            </a:r>
            <a:r>
              <a:rPr lang="en-US" b="1" dirty="0" err="1"/>
              <a:t>FedAvg</a:t>
            </a:r>
            <a:r>
              <a:rPr lang="en-US" b="1" dirty="0"/>
              <a:t>: </a:t>
            </a:r>
            <a:r>
              <a:rPr lang="en-US" dirty="0"/>
              <a:t>Instead of relying solely on traditional </a:t>
            </a:r>
            <a:r>
              <a:rPr lang="en-US" dirty="0" err="1"/>
              <a:t>FedAvg</a:t>
            </a:r>
            <a:r>
              <a:rPr lang="en-US" dirty="0"/>
              <a:t>, the project introduces RSO-based global model optimization, ensuring better trade-offs between latency, energy, and accuracy.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Attention + LSTM Agents: </a:t>
            </a:r>
            <a:r>
              <a:rPr lang="en-US" dirty="0"/>
              <a:t>Incorporates temporal learning (LSTM) with attention mechanisms, enabling agents to capture dependencies in IoT traffic and resource variations more effectively than standard RL agents.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Performance Metrics Integration: </a:t>
            </a:r>
            <a:r>
              <a:rPr lang="en-US" dirty="0"/>
              <a:t>Goes beyond conventional RL by evaluating latency, energy consumption, and throughput, directly aligning with real-world IoT system requirements.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Scalability &amp; Efficiency: </a:t>
            </a:r>
            <a:r>
              <a:rPr lang="en-US" dirty="0"/>
              <a:t>The proposed method supports multi-agent collaboration at scale, reducing communication overhead while improving convergence speed compared to centralized RL approaches.</a:t>
            </a:r>
          </a:p>
          <a:p>
            <a:pPr marL="285750" indent="-285750" algn="just">
              <a:lnSpc>
                <a:spcPct val="150000"/>
              </a:lnSpc>
              <a:buFont typeface="Arial" panose="020B0604020202020204" pitchFamily="34" charset="0"/>
              <a:buChar char="•"/>
            </a:pPr>
            <a:endParaRPr lang="en-US" dirty="0">
              <a:latin typeface="Aptos" panose="020B0004020202020204" pitchFamily="34" charset="0"/>
            </a:endParaRPr>
          </a:p>
        </p:txBody>
      </p:sp>
      <p:sp>
        <p:nvSpPr>
          <p:cNvPr id="8" name="TextBox 7">
            <a:extLst>
              <a:ext uri="{FF2B5EF4-FFF2-40B4-BE49-F238E27FC236}">
                <a16:creationId xmlns:a16="http://schemas.microsoft.com/office/drawing/2014/main" id="{184DB8FA-8D5C-3599-7F98-9D13643289BA}"/>
              </a:ext>
            </a:extLst>
          </p:cNvPr>
          <p:cNvSpPr txBox="1"/>
          <p:nvPr/>
        </p:nvSpPr>
        <p:spPr>
          <a:xfrm>
            <a:off x="562510" y="352680"/>
            <a:ext cx="6097712" cy="584775"/>
          </a:xfrm>
          <a:prstGeom prst="rect">
            <a:avLst/>
          </a:prstGeom>
          <a:noFill/>
        </p:spPr>
        <p:txBody>
          <a:bodyPr wrap="square">
            <a:spAutoFit/>
          </a:bodyPr>
          <a:lstStyle/>
          <a:p>
            <a:pPr>
              <a:buNone/>
            </a:pPr>
            <a:r>
              <a:rPr lang="en-US" sz="3200" b="1" dirty="0">
                <a:latin typeface="Book Antiqua" panose="02040602050305030304" pitchFamily="18" charset="0"/>
              </a:rPr>
              <a:t>Novelty / Innovation</a:t>
            </a:r>
          </a:p>
        </p:txBody>
      </p:sp>
      <p:sp>
        <p:nvSpPr>
          <p:cNvPr id="13" name="Date Placeholder 3">
            <a:extLst>
              <a:ext uri="{FF2B5EF4-FFF2-40B4-BE49-F238E27FC236}">
                <a16:creationId xmlns:a16="http://schemas.microsoft.com/office/drawing/2014/main" id="{088FBEB9-E56D-5C2E-8771-9B8716579C46}"/>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CE7E5F53-BF72-E0A5-42FF-EB1FD5131BEF}"/>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149DF87E-F6B1-BF6B-9905-75DFD5C166AE}"/>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10</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68298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A9C2E-9FD8-F302-27E3-E2588D18AD3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9167840-3631-5F87-05DA-625980633C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FB44743C-374C-EE04-18E1-F3D2AE85FF47}"/>
              </a:ext>
            </a:extLst>
          </p:cNvPr>
          <p:cNvSpPr txBox="1"/>
          <p:nvPr/>
        </p:nvSpPr>
        <p:spPr>
          <a:xfrm>
            <a:off x="638325" y="1276690"/>
            <a:ext cx="8496756" cy="4622869"/>
          </a:xfrm>
          <a:prstGeom prst="rect">
            <a:avLst/>
          </a:prstGeom>
          <a:noFill/>
        </p:spPr>
        <p:txBody>
          <a:bodyPr wrap="square">
            <a:spAutoFit/>
          </a:bodyPr>
          <a:lstStyle/>
          <a:p>
            <a:r>
              <a:rPr lang="en-US" b="1" dirty="0"/>
              <a:t>Deliverables:</a:t>
            </a:r>
          </a:p>
          <a:p>
            <a:pPr marL="285750" indent="-285750" algn="just">
              <a:buFont typeface="Arial" panose="020B0604020202020204" pitchFamily="34" charset="0"/>
              <a:buChar char="•"/>
            </a:pPr>
            <a:r>
              <a:rPr lang="en-US" dirty="0"/>
              <a:t>A working federated multi-agent Actor-Critic RL framework integrated with Rat Swarm Optimization (RSO).</a:t>
            </a:r>
          </a:p>
          <a:p>
            <a:pPr marL="285750" indent="-285750" algn="just">
              <a:buFont typeface="Arial" panose="020B0604020202020204" pitchFamily="34" charset="0"/>
              <a:buChar char="•"/>
            </a:pPr>
            <a:r>
              <a:rPr lang="en-US" dirty="0"/>
              <a:t>Trained models capable of handling IoT edge tasks under low-latency and energy-efficient constraints.</a:t>
            </a:r>
          </a:p>
          <a:p>
            <a:pPr marL="285750" indent="-285750" algn="just">
              <a:buFont typeface="Arial" panose="020B0604020202020204" pitchFamily="34" charset="0"/>
              <a:buChar char="•"/>
            </a:pPr>
            <a:r>
              <a:rPr lang="en-US" dirty="0"/>
              <a:t>A comprehensive project report detailing methodology, implementation, results, and analysis.</a:t>
            </a:r>
          </a:p>
          <a:p>
            <a:pPr marL="285750" indent="-285750" algn="just">
              <a:buFont typeface="Arial" panose="020B0604020202020204" pitchFamily="34" charset="0"/>
              <a:buChar char="•"/>
            </a:pPr>
            <a:r>
              <a:rPr lang="en-US" dirty="0"/>
              <a:t>Optionally, a research paper draft highlighting novelty and performance compared to existing methods.</a:t>
            </a:r>
          </a:p>
          <a:p>
            <a:r>
              <a:rPr lang="en-US" b="1" dirty="0"/>
              <a:t>Expected Benefits / Impact:</a:t>
            </a:r>
          </a:p>
          <a:p>
            <a:pPr marL="285750" indent="-285750" algn="just">
              <a:buFont typeface="Arial" panose="020B0604020202020204" pitchFamily="34" charset="0"/>
              <a:buChar char="•"/>
            </a:pPr>
            <a:r>
              <a:rPr lang="en-US" dirty="0"/>
              <a:t>Reduced latency in IoT edge inference.</a:t>
            </a:r>
          </a:p>
          <a:p>
            <a:pPr marL="285750" indent="-285750" algn="just">
              <a:buFont typeface="Arial" panose="020B0604020202020204" pitchFamily="34" charset="0"/>
              <a:buChar char="•"/>
            </a:pPr>
            <a:r>
              <a:rPr lang="en-US" dirty="0"/>
              <a:t>Lower energy consumption, enabling deployment on resource-constrained devices.</a:t>
            </a:r>
          </a:p>
          <a:p>
            <a:pPr marL="285750" indent="-285750" algn="just">
              <a:buFont typeface="Arial" panose="020B0604020202020204" pitchFamily="34" charset="0"/>
              <a:buChar char="•"/>
            </a:pPr>
            <a:r>
              <a:rPr lang="en-US" dirty="0"/>
              <a:t>Improved throughput and scalability for multi-agent collaboration.</a:t>
            </a:r>
          </a:p>
          <a:p>
            <a:pPr marL="285750" indent="-285750" algn="just">
              <a:buFont typeface="Arial" panose="020B0604020202020204" pitchFamily="34" charset="0"/>
              <a:buChar char="•"/>
            </a:pPr>
            <a:r>
              <a:rPr lang="en-US" dirty="0"/>
              <a:t>A generalizable framework that can be applied to smart cities, healthcare, and industrial IoT use cases.</a:t>
            </a:r>
          </a:p>
          <a:p>
            <a:pPr>
              <a:lnSpc>
                <a:spcPct val="150000"/>
              </a:lnSpc>
            </a:pPr>
            <a:endParaRPr lang="en-US" dirty="0">
              <a:latin typeface="Aptos" panose="020B0004020202020204" pitchFamily="34" charset="0"/>
            </a:endParaRPr>
          </a:p>
        </p:txBody>
      </p:sp>
      <p:sp>
        <p:nvSpPr>
          <p:cNvPr id="10" name="TextBox 9">
            <a:extLst>
              <a:ext uri="{FF2B5EF4-FFF2-40B4-BE49-F238E27FC236}">
                <a16:creationId xmlns:a16="http://schemas.microsoft.com/office/drawing/2014/main" id="{12AB205B-4626-241F-C183-BA8AAAD5F141}"/>
              </a:ext>
            </a:extLst>
          </p:cNvPr>
          <p:cNvSpPr txBox="1"/>
          <p:nvPr/>
        </p:nvSpPr>
        <p:spPr>
          <a:xfrm>
            <a:off x="406981" y="420566"/>
            <a:ext cx="6097712" cy="584775"/>
          </a:xfrm>
          <a:prstGeom prst="rect">
            <a:avLst/>
          </a:prstGeom>
          <a:noFill/>
        </p:spPr>
        <p:txBody>
          <a:bodyPr wrap="square">
            <a:spAutoFit/>
          </a:bodyPr>
          <a:lstStyle/>
          <a:p>
            <a:pPr>
              <a:buNone/>
            </a:pPr>
            <a:r>
              <a:rPr lang="en-US" sz="3200" b="1" dirty="0">
                <a:latin typeface="Book Antiqua" panose="02040602050305030304" pitchFamily="18" charset="0"/>
              </a:rPr>
              <a:t>Expected Outcomes</a:t>
            </a:r>
          </a:p>
        </p:txBody>
      </p:sp>
      <p:sp>
        <p:nvSpPr>
          <p:cNvPr id="13" name="Date Placeholder 3">
            <a:extLst>
              <a:ext uri="{FF2B5EF4-FFF2-40B4-BE49-F238E27FC236}">
                <a16:creationId xmlns:a16="http://schemas.microsoft.com/office/drawing/2014/main" id="{D15C9048-83CC-2948-9EC0-54894D85627D}"/>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406D580D-35BB-DBA8-59C6-0F2EE64FE120}"/>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0CCB0DC3-C76C-1278-27DF-89E50B999314}"/>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11</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531693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BAE2B7-A7CE-B884-7D48-63814EA248E4}"/>
              </a:ext>
            </a:extLst>
          </p:cNvPr>
          <p:cNvSpPr txBox="1"/>
          <p:nvPr/>
        </p:nvSpPr>
        <p:spPr>
          <a:xfrm>
            <a:off x="480316" y="483153"/>
            <a:ext cx="7625993" cy="584775"/>
          </a:xfrm>
          <a:prstGeom prst="rect">
            <a:avLst/>
          </a:prstGeom>
          <a:noFill/>
        </p:spPr>
        <p:txBody>
          <a:bodyPr wrap="square">
            <a:spAutoFit/>
          </a:bodyPr>
          <a:lstStyle/>
          <a:p>
            <a:pPr>
              <a:buNone/>
            </a:pPr>
            <a:r>
              <a:rPr lang="en-US" sz="3200" b="1" dirty="0">
                <a:latin typeface="Book Antiqua" panose="02040602050305030304" pitchFamily="18" charset="0"/>
              </a:rPr>
              <a:t>Team Roles &amp; Work Distribution</a:t>
            </a:r>
          </a:p>
        </p:txBody>
      </p:sp>
      <p:sp>
        <p:nvSpPr>
          <p:cNvPr id="12" name="Date Placeholder 3">
            <a:extLst>
              <a:ext uri="{FF2B5EF4-FFF2-40B4-BE49-F238E27FC236}">
                <a16:creationId xmlns:a16="http://schemas.microsoft.com/office/drawing/2014/main" id="{5D9523E8-04A9-5F7D-B678-26825DAFA520}"/>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2017F37-7C0C-AF04-70D3-A489461D2493}"/>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7FFA89DD-6E6D-D81C-D317-DDBAE9EFD00D}"/>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12</a:t>
            </a:fld>
            <a:endParaRPr lang="en-IN" sz="1200" dirty="0">
              <a:solidFill>
                <a:schemeClr val="accent3"/>
              </a:solidFill>
              <a:latin typeface="Aptos" panose="020B0004020202020204" pitchFamily="34" charset="0"/>
            </a:endParaRPr>
          </a:p>
        </p:txBody>
      </p:sp>
      <p:sp>
        <p:nvSpPr>
          <p:cNvPr id="6" name="TextBox 5">
            <a:extLst>
              <a:ext uri="{FF2B5EF4-FFF2-40B4-BE49-F238E27FC236}">
                <a16:creationId xmlns:a16="http://schemas.microsoft.com/office/drawing/2014/main" id="{D0D291B5-8C8D-4D97-A47D-7ECBDAFA34F0}"/>
              </a:ext>
            </a:extLst>
          </p:cNvPr>
          <p:cNvSpPr txBox="1"/>
          <p:nvPr/>
        </p:nvSpPr>
        <p:spPr>
          <a:xfrm>
            <a:off x="756745" y="1524000"/>
            <a:ext cx="9627476" cy="3693319"/>
          </a:xfrm>
          <a:prstGeom prst="rect">
            <a:avLst/>
          </a:prstGeom>
          <a:noFill/>
        </p:spPr>
        <p:txBody>
          <a:bodyPr wrap="square" rtlCol="0">
            <a:spAutoFit/>
          </a:bodyPr>
          <a:lstStyle/>
          <a:p>
            <a:pPr algn="just"/>
            <a:r>
              <a:rPr lang="en-IN" b="1" dirty="0"/>
              <a:t>Team Member 1 – Environment &amp; Setup</a:t>
            </a:r>
          </a:p>
          <a:p>
            <a:pPr marL="285750" indent="-285750" algn="just">
              <a:buFont typeface="Arial" panose="020B0604020202020204" pitchFamily="34" charset="0"/>
              <a:buChar char="•"/>
            </a:pPr>
            <a:r>
              <a:rPr lang="en-IN" dirty="0"/>
              <a:t>Build the IoT Edge simulation environment (nodes, tasks, latency/energy model).</a:t>
            </a:r>
          </a:p>
          <a:p>
            <a:pPr marL="285750" indent="-285750" algn="just">
              <a:buFont typeface="Arial" panose="020B0604020202020204" pitchFamily="34" charset="0"/>
              <a:buChar char="•"/>
            </a:pPr>
            <a:r>
              <a:rPr lang="en-IN" dirty="0"/>
              <a:t>Define the reward function combining latency, energy, and throughput.</a:t>
            </a:r>
          </a:p>
          <a:p>
            <a:pPr marL="285750" indent="-285750" algn="just">
              <a:buFont typeface="Arial" panose="020B0604020202020204" pitchFamily="34" charset="0"/>
              <a:buChar char="•"/>
            </a:pPr>
            <a:r>
              <a:rPr lang="en-IN" dirty="0"/>
              <a:t>Prepare baseline (non-FL, single-agent RL) for comparison.</a:t>
            </a:r>
          </a:p>
          <a:p>
            <a:pPr algn="just"/>
            <a:r>
              <a:rPr lang="en-IN" b="1" dirty="0"/>
              <a:t>Team Member 2 – Federated Multi-Agent Actor–Critic</a:t>
            </a:r>
          </a:p>
          <a:p>
            <a:pPr marL="285750" indent="-285750" algn="just">
              <a:buFont typeface="Arial" panose="020B0604020202020204" pitchFamily="34" charset="0"/>
              <a:buChar char="•"/>
            </a:pPr>
            <a:r>
              <a:rPr lang="en-IN" dirty="0"/>
              <a:t>Implement multi-agent actor–critic (LSTM + Attention).</a:t>
            </a:r>
          </a:p>
          <a:p>
            <a:pPr marL="285750" indent="-285750" algn="just">
              <a:buFont typeface="Arial" panose="020B0604020202020204" pitchFamily="34" charset="0"/>
              <a:buChar char="•"/>
            </a:pPr>
            <a:r>
              <a:rPr lang="en-IN" dirty="0"/>
              <a:t>Integrate Federated Learning (</a:t>
            </a:r>
            <a:r>
              <a:rPr lang="en-IN" dirty="0" err="1"/>
              <a:t>FedAvg</a:t>
            </a:r>
            <a:r>
              <a:rPr lang="en-IN" dirty="0"/>
              <a:t> or semi-async).</a:t>
            </a:r>
          </a:p>
          <a:p>
            <a:pPr marL="285750" indent="-285750" algn="just">
              <a:buFont typeface="Arial" panose="020B0604020202020204" pitchFamily="34" charset="0"/>
              <a:buChar char="•"/>
            </a:pPr>
            <a:r>
              <a:rPr lang="en-IN" dirty="0"/>
              <a:t>Train and validate agents on heterogeneous/non-IID edge environments.</a:t>
            </a:r>
          </a:p>
          <a:p>
            <a:pPr algn="just"/>
            <a:r>
              <a:rPr lang="en-IN" b="1" dirty="0"/>
              <a:t>Team Member 3 – RSO Optimization &amp; Evaluation</a:t>
            </a:r>
          </a:p>
          <a:p>
            <a:pPr marL="285750" indent="-285750" algn="just">
              <a:buFont typeface="Arial" panose="020B0604020202020204" pitchFamily="34" charset="0"/>
              <a:buChar char="•"/>
            </a:pPr>
            <a:r>
              <a:rPr lang="en-IN" dirty="0"/>
              <a:t>Implement Rime Snow Optimization (RSO) to tune RL + FL parameters.</a:t>
            </a:r>
          </a:p>
          <a:p>
            <a:pPr marL="285750" indent="-285750" algn="just">
              <a:buFont typeface="Arial" panose="020B0604020202020204" pitchFamily="34" charset="0"/>
              <a:buChar char="•"/>
            </a:pPr>
            <a:r>
              <a:rPr lang="en-IN" dirty="0"/>
              <a:t>Run experiments, log metrics (latency, energy, throughput, convergence).</a:t>
            </a:r>
          </a:p>
          <a:p>
            <a:pPr marL="285750" indent="-285750" algn="just">
              <a:buFont typeface="Arial" panose="020B0604020202020204" pitchFamily="34" charset="0"/>
              <a:buChar char="•"/>
            </a:pPr>
            <a:r>
              <a:rPr lang="en-IN" dirty="0"/>
              <a:t>Generate graphs, charts, and evaluation tables.</a:t>
            </a:r>
          </a:p>
          <a:p>
            <a:pPr algn="just"/>
            <a:endParaRPr lang="en-IN" dirty="0"/>
          </a:p>
        </p:txBody>
      </p:sp>
    </p:spTree>
    <p:extLst>
      <p:ext uri="{BB962C8B-B14F-4D97-AF65-F5344CB8AC3E}">
        <p14:creationId xmlns:p14="http://schemas.microsoft.com/office/powerpoint/2010/main" val="3172624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9894B-96C9-56D9-A8C6-62330250C11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A04A046-3EB5-36BA-045F-23E412FD67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165A2AA2-D344-EB57-6AA8-971229BEB9F0}"/>
              </a:ext>
            </a:extLst>
          </p:cNvPr>
          <p:cNvSpPr txBox="1"/>
          <p:nvPr/>
        </p:nvSpPr>
        <p:spPr>
          <a:xfrm>
            <a:off x="470042" y="305344"/>
            <a:ext cx="6097712" cy="584775"/>
          </a:xfrm>
          <a:prstGeom prst="rect">
            <a:avLst/>
          </a:prstGeom>
          <a:noFill/>
        </p:spPr>
        <p:txBody>
          <a:bodyPr wrap="square">
            <a:spAutoFit/>
          </a:bodyPr>
          <a:lstStyle/>
          <a:p>
            <a:pPr>
              <a:buNone/>
            </a:pPr>
            <a:r>
              <a:rPr lang="en-US" sz="3200" b="1" dirty="0">
                <a:latin typeface="Book Antiqua" panose="02040602050305030304" pitchFamily="18" charset="0"/>
              </a:rPr>
              <a:t>Results </a:t>
            </a:r>
            <a:r>
              <a:rPr lang="en-US" sz="3200" b="1" dirty="0" err="1">
                <a:latin typeface="Book Antiqua" panose="02040602050305030304" pitchFamily="18" charset="0"/>
              </a:rPr>
              <a:t>Achived</a:t>
            </a:r>
            <a:endParaRPr lang="en-US" sz="3200" b="1" dirty="0">
              <a:latin typeface="Book Antiqua" panose="02040602050305030304" pitchFamily="18" charset="0"/>
            </a:endParaRPr>
          </a:p>
        </p:txBody>
      </p:sp>
      <p:sp>
        <p:nvSpPr>
          <p:cNvPr id="13" name="Date Placeholder 3">
            <a:extLst>
              <a:ext uri="{FF2B5EF4-FFF2-40B4-BE49-F238E27FC236}">
                <a16:creationId xmlns:a16="http://schemas.microsoft.com/office/drawing/2014/main" id="{42A4044D-1D9A-376C-3D0B-83D80D2BABF1}"/>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52F96955-B120-E450-A7C6-84F9D05D09B3}"/>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C9F7782F-BDCA-50E4-3848-B30A26AE78DF}"/>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13</a:t>
            </a:fld>
            <a:endParaRPr lang="en-IN" sz="1200" dirty="0">
              <a:solidFill>
                <a:schemeClr val="accent3"/>
              </a:solidFill>
              <a:latin typeface="Aptos" panose="020B0004020202020204" pitchFamily="34" charset="0"/>
            </a:endParaRPr>
          </a:p>
        </p:txBody>
      </p:sp>
      <p:sp>
        <p:nvSpPr>
          <p:cNvPr id="4" name="TextBox 3">
            <a:extLst>
              <a:ext uri="{FF2B5EF4-FFF2-40B4-BE49-F238E27FC236}">
                <a16:creationId xmlns:a16="http://schemas.microsoft.com/office/drawing/2014/main" id="{73AC8EB5-A287-4AB6-C0F2-FAC680328275}"/>
              </a:ext>
            </a:extLst>
          </p:cNvPr>
          <p:cNvSpPr txBox="1"/>
          <p:nvPr/>
        </p:nvSpPr>
        <p:spPr>
          <a:xfrm>
            <a:off x="470042" y="1005341"/>
            <a:ext cx="7084088" cy="3024554"/>
          </a:xfrm>
          <a:prstGeom prst="rect">
            <a:avLst/>
          </a:prstGeom>
          <a:noFill/>
        </p:spPr>
        <p:txBody>
          <a:bodyPr wrap="square" rtlCol="0">
            <a:spAutoFit/>
          </a:bodyPr>
          <a:lstStyle/>
          <a:p>
            <a:endParaRPr lang="en-IN" dirty="0"/>
          </a:p>
        </p:txBody>
      </p:sp>
      <p:sp>
        <p:nvSpPr>
          <p:cNvPr id="5" name="Rectangle 1">
            <a:extLst>
              <a:ext uri="{FF2B5EF4-FFF2-40B4-BE49-F238E27FC236}">
                <a16:creationId xmlns:a16="http://schemas.microsoft.com/office/drawing/2014/main" id="{7FB8066F-90E9-7388-3680-B80A25D3D630}"/>
              </a:ext>
            </a:extLst>
          </p:cNvPr>
          <p:cNvSpPr>
            <a:spLocks noChangeArrowheads="1"/>
          </p:cNvSpPr>
          <p:nvPr/>
        </p:nvSpPr>
        <p:spPr bwMode="auto">
          <a:xfrm>
            <a:off x="633046" y="1173345"/>
            <a:ext cx="2902141"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IN" b="1" dirty="0"/>
              <a:t>Composite Fitness</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−487.68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Latency:</a:t>
            </a:r>
            <a:r>
              <a:rPr kumimoji="0" lang="en-US" altLang="en-US" sz="1800" b="0" i="0" u="none" strike="noStrike" cap="none" normalizeH="0" baseline="0" dirty="0">
                <a:ln>
                  <a:noFill/>
                </a:ln>
                <a:solidFill>
                  <a:schemeClr val="tx1"/>
                </a:solidFill>
                <a:effectLst/>
                <a:latin typeface="Arial" panose="020B0604020202020204" pitchFamily="34" charset="0"/>
              </a:rPr>
              <a:t> ≈5.48 </a:t>
            </a:r>
            <a:r>
              <a:rPr kumimoji="0" lang="en-US" altLang="en-US" sz="1800" b="0" i="0" u="none" strike="noStrike" cap="none" normalizeH="0" baseline="0" dirty="0" err="1">
                <a:ln>
                  <a:noFill/>
                </a:ln>
                <a:solidFill>
                  <a:schemeClr val="tx1"/>
                </a:solidFill>
                <a:effectLst/>
                <a:latin typeface="Arial" panose="020B0604020202020204" pitchFamily="34" charset="0"/>
              </a:rPr>
              <a:t>ms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Energy:</a:t>
            </a:r>
            <a:r>
              <a:rPr kumimoji="0" lang="en-US" altLang="en-US" sz="1800" b="0" i="0" u="none" strike="noStrike" cap="none" normalizeH="0" baseline="0" dirty="0">
                <a:ln>
                  <a:noFill/>
                </a:ln>
                <a:solidFill>
                  <a:schemeClr val="tx1"/>
                </a:solidFill>
                <a:effectLst/>
                <a:latin typeface="Arial" panose="020B0604020202020204" pitchFamily="34" charset="0"/>
              </a:rPr>
              <a:t> ≈0.46 J  </a:t>
            </a:r>
            <a:r>
              <a:rPr kumimoji="0" lang="en-US" altLang="en-US" sz="19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AutoShape 2">
            <a:extLst>
              <a:ext uri="{FF2B5EF4-FFF2-40B4-BE49-F238E27FC236}">
                <a16:creationId xmlns:a16="http://schemas.microsoft.com/office/drawing/2014/main" id="{8ADD5D92-CA67-25C8-A03D-B70E915CF020}"/>
              </a:ext>
            </a:extLst>
          </p:cNvPr>
          <p:cNvSpPr>
            <a:spLocks noChangeAspect="1" noChangeArrowheads="1"/>
          </p:cNvSpPr>
          <p:nvPr/>
        </p:nvSpPr>
        <p:spPr bwMode="auto">
          <a:xfrm>
            <a:off x="4829175" y="-419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866625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87233-A8D9-E32E-C293-BFDB829017C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FA5367D-17C3-4715-0B27-272D144B1A68}"/>
              </a:ext>
            </a:extLst>
          </p:cNvPr>
          <p:cNvSpPr txBox="1"/>
          <p:nvPr/>
        </p:nvSpPr>
        <p:spPr>
          <a:xfrm>
            <a:off x="648104" y="1335539"/>
            <a:ext cx="10369193" cy="2957861"/>
          </a:xfrm>
          <a:prstGeom prst="rect">
            <a:avLst/>
          </a:prstGeom>
          <a:noFill/>
        </p:spPr>
        <p:txBody>
          <a:bodyPr wrap="square">
            <a:spAutoFit/>
          </a:bodyPr>
          <a:lstStyle/>
          <a:p>
            <a:pPr>
              <a:lnSpc>
                <a:spcPct val="150000"/>
              </a:lnSpc>
            </a:pPr>
            <a:r>
              <a:rPr lang="en-US" b="1" dirty="0"/>
              <a:t>Activity</a:t>
            </a:r>
          </a:p>
          <a:p>
            <a:pPr marL="285750" indent="-285750">
              <a:lnSpc>
                <a:spcPct val="150000"/>
              </a:lnSpc>
              <a:buFont typeface="Arial" panose="020B0604020202020204" pitchFamily="34" charset="0"/>
              <a:buChar char="•"/>
            </a:pPr>
            <a:r>
              <a:rPr lang="en-US" dirty="0"/>
              <a:t>Stage-1 (</a:t>
            </a:r>
            <a:r>
              <a:rPr lang="en-US" b="1" dirty="0"/>
              <a:t>July-23 to Oct-23</a:t>
            </a:r>
            <a:r>
              <a:rPr lang="en-US" dirty="0"/>
              <a:t>)-&gt;{</a:t>
            </a:r>
            <a:r>
              <a:rPr lang="en-US" b="1" dirty="0"/>
              <a:t>Literature Reviews</a:t>
            </a:r>
            <a:r>
              <a:rPr lang="en-US" dirty="0"/>
              <a:t>}</a:t>
            </a:r>
          </a:p>
          <a:p>
            <a:pPr marL="285750" indent="-285750">
              <a:lnSpc>
                <a:spcPct val="150000"/>
              </a:lnSpc>
              <a:buFont typeface="Arial" panose="020B0604020202020204" pitchFamily="34" charset="0"/>
              <a:buChar char="•"/>
            </a:pPr>
            <a:r>
              <a:rPr lang="en-US" dirty="0"/>
              <a:t>Stage-2(</a:t>
            </a:r>
            <a:r>
              <a:rPr lang="en-US" b="1" dirty="0"/>
              <a:t>Oct-23 to Mar-24</a:t>
            </a:r>
            <a:r>
              <a:rPr lang="en-US" dirty="0"/>
              <a:t>)-&gt;{</a:t>
            </a:r>
            <a:r>
              <a:rPr lang="en-US" b="1" dirty="0"/>
              <a:t>Modeling and Analysis &amp; Experimentation</a:t>
            </a:r>
            <a:r>
              <a:rPr lang="en-US" dirty="0"/>
              <a:t>}</a:t>
            </a:r>
          </a:p>
          <a:p>
            <a:pPr marL="285750" indent="-285750">
              <a:lnSpc>
                <a:spcPct val="150000"/>
              </a:lnSpc>
              <a:buFont typeface="Arial" panose="020B0604020202020204" pitchFamily="34" charset="0"/>
              <a:buChar char="•"/>
            </a:pPr>
            <a:r>
              <a:rPr lang="en-US" dirty="0"/>
              <a:t>Stage-3(</a:t>
            </a:r>
            <a:r>
              <a:rPr lang="en-US" b="1" dirty="0"/>
              <a:t>Mar-24 to jun-24</a:t>
            </a:r>
            <a:r>
              <a:rPr lang="en-US" dirty="0"/>
              <a:t>)-&gt;{</a:t>
            </a:r>
            <a:r>
              <a:rPr lang="en-US" b="1" dirty="0"/>
              <a:t>First draft of Final Report</a:t>
            </a:r>
            <a:r>
              <a:rPr lang="en-US" dirty="0"/>
              <a:t>}</a:t>
            </a:r>
          </a:p>
          <a:p>
            <a:pPr>
              <a:lnSpc>
                <a:spcPct val="150000"/>
              </a:lnSpc>
            </a:pPr>
            <a:r>
              <a:rPr lang="en-US" b="1" dirty="0"/>
              <a:t>Publications-1</a:t>
            </a:r>
            <a:br>
              <a:rPr lang="en-US" b="1" dirty="0"/>
            </a:br>
            <a:r>
              <a:rPr lang="en-US" b="1" dirty="0"/>
              <a:t>Finally,</a:t>
            </a:r>
            <a:br>
              <a:rPr lang="en-US" b="1" dirty="0"/>
            </a:br>
            <a:r>
              <a:rPr lang="en-US" dirty="0"/>
              <a:t>Report Submission</a:t>
            </a:r>
            <a:r>
              <a:rPr lang="en-US" b="1" dirty="0"/>
              <a:t>(Mar-24 to jun-24)</a:t>
            </a:r>
            <a:endParaRPr lang="en-US" dirty="0"/>
          </a:p>
        </p:txBody>
      </p:sp>
      <p:sp>
        <p:nvSpPr>
          <p:cNvPr id="9" name="TextBox 8">
            <a:extLst>
              <a:ext uri="{FF2B5EF4-FFF2-40B4-BE49-F238E27FC236}">
                <a16:creationId xmlns:a16="http://schemas.microsoft.com/office/drawing/2014/main" id="{E9FD14A8-B4D6-1C0C-59CB-50EC7FCF1AF5}"/>
              </a:ext>
            </a:extLst>
          </p:cNvPr>
          <p:cNvSpPr txBox="1"/>
          <p:nvPr/>
        </p:nvSpPr>
        <p:spPr>
          <a:xfrm>
            <a:off x="439411" y="477495"/>
            <a:ext cx="6097712" cy="584775"/>
          </a:xfrm>
          <a:prstGeom prst="rect">
            <a:avLst/>
          </a:prstGeom>
          <a:noFill/>
        </p:spPr>
        <p:txBody>
          <a:bodyPr wrap="square">
            <a:spAutoFit/>
          </a:bodyPr>
          <a:lstStyle/>
          <a:p>
            <a:pPr>
              <a:buNone/>
            </a:pPr>
            <a:r>
              <a:rPr lang="en-US" sz="3200" b="1" dirty="0">
                <a:latin typeface="Book Antiqua" panose="02040602050305030304" pitchFamily="18" charset="0"/>
              </a:rPr>
              <a:t>Timeline / Gantt Chart</a:t>
            </a:r>
          </a:p>
        </p:txBody>
      </p:sp>
      <p:sp>
        <p:nvSpPr>
          <p:cNvPr id="12" name="Date Placeholder 3">
            <a:extLst>
              <a:ext uri="{FF2B5EF4-FFF2-40B4-BE49-F238E27FC236}">
                <a16:creationId xmlns:a16="http://schemas.microsoft.com/office/drawing/2014/main" id="{131D05CE-AAE6-9DC3-40FA-A986023CC8C8}"/>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DB030924-852F-2FE5-FD6C-6326637202DA}"/>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DCF02C69-296C-6783-DCD1-0292077FBD75}"/>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14</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279678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44121E-2B36-0636-E404-5D42EBFA39C0}"/>
              </a:ext>
            </a:extLst>
          </p:cNvPr>
          <p:cNvSpPr txBox="1"/>
          <p:nvPr/>
        </p:nvSpPr>
        <p:spPr>
          <a:xfrm>
            <a:off x="470042" y="442057"/>
            <a:ext cx="6097712" cy="584775"/>
          </a:xfrm>
          <a:prstGeom prst="rect">
            <a:avLst/>
          </a:prstGeom>
          <a:noFill/>
        </p:spPr>
        <p:txBody>
          <a:bodyPr wrap="square">
            <a:spAutoFit/>
          </a:bodyPr>
          <a:lstStyle/>
          <a:p>
            <a:r>
              <a:rPr lang="en-IN" sz="3200" b="1" dirty="0">
                <a:latin typeface="Book Antiqua" panose="02040602050305030304" pitchFamily="18" charset="0"/>
              </a:rPr>
              <a:t>References</a:t>
            </a:r>
          </a:p>
        </p:txBody>
      </p:sp>
      <p:sp>
        <p:nvSpPr>
          <p:cNvPr id="5" name="TextBox 4">
            <a:extLst>
              <a:ext uri="{FF2B5EF4-FFF2-40B4-BE49-F238E27FC236}">
                <a16:creationId xmlns:a16="http://schemas.microsoft.com/office/drawing/2014/main" id="{D4236217-B8F5-06A5-DAE8-17894E03DAA7}"/>
              </a:ext>
            </a:extLst>
          </p:cNvPr>
          <p:cNvSpPr txBox="1"/>
          <p:nvPr/>
        </p:nvSpPr>
        <p:spPr>
          <a:xfrm>
            <a:off x="693475" y="1274972"/>
            <a:ext cx="11151683" cy="4801314"/>
          </a:xfrm>
          <a:prstGeom prst="rect">
            <a:avLst/>
          </a:prstGeom>
          <a:noFill/>
        </p:spPr>
        <p:txBody>
          <a:bodyPr wrap="square">
            <a:spAutoFit/>
          </a:bodyPr>
          <a:lstStyle/>
          <a:p>
            <a:pPr marL="342900" indent="-342900">
              <a:buFont typeface="+mj-lt"/>
              <a:buAutoNum type="arabicPeriod"/>
            </a:pPr>
            <a:r>
              <a:rPr lang="en-IN" dirty="0"/>
              <a:t>Zhu, Y., Hu, Y., Wang, Y., Chen, X., Zhang, R., &amp; Qiu, Q. (2020). Federated Multi-Agent Actor-Critic Learning for Age-Sensitive Mobile Edge Computing. </a:t>
            </a:r>
            <a:r>
              <a:rPr lang="en-IN" dirty="0" err="1"/>
              <a:t>arXiv</a:t>
            </a:r>
            <a:r>
              <a:rPr lang="en-IN" dirty="0"/>
              <a:t> preprint arXiv:2012.14137. </a:t>
            </a:r>
          </a:p>
          <a:p>
            <a:pPr marL="342900" indent="-342900">
              <a:buFont typeface="+mj-lt"/>
              <a:buAutoNum type="arabicPeriod"/>
            </a:pPr>
            <a:endParaRPr lang="en-IN" dirty="0"/>
          </a:p>
          <a:p>
            <a:pPr marL="342900" indent="-342900">
              <a:buFont typeface="+mj-lt"/>
              <a:buAutoNum type="arabicPeriod"/>
            </a:pPr>
            <a:r>
              <a:rPr lang="en-IN" dirty="0"/>
              <a:t>Li, H., Xu, T., Chen, X., Guo, Y., Zhang, H., Chen, Z., &amp; He, H. (2023). Federated Multi-Agent Deep Reinforcement Learning with Physics-Informed Reward for Multi-Microgrids Coordination. </a:t>
            </a:r>
            <a:r>
              <a:rPr lang="en-IN" dirty="0" err="1"/>
              <a:t>arXiv</a:t>
            </a:r>
            <a:r>
              <a:rPr lang="en-IN" dirty="0"/>
              <a:t> preprint arXiv:2301.00641. </a:t>
            </a:r>
          </a:p>
          <a:p>
            <a:pPr marL="342900" indent="-342900">
              <a:buFont typeface="+mj-lt"/>
              <a:buAutoNum type="arabicPeriod"/>
            </a:pPr>
            <a:endParaRPr lang="en-IN" dirty="0"/>
          </a:p>
          <a:p>
            <a:pPr marL="342900" indent="-342900">
              <a:buFont typeface="+mj-lt"/>
              <a:buAutoNum type="arabicPeriod"/>
            </a:pPr>
            <a:r>
              <a:rPr lang="en-IN" dirty="0" err="1"/>
              <a:t>Metelo</a:t>
            </a:r>
            <a:r>
              <a:rPr lang="en-IN" dirty="0"/>
              <a:t>, D., Belo, O., &amp; Gomes, D. (2025). </a:t>
            </a:r>
            <a:r>
              <a:rPr lang="en-IN" dirty="0" err="1"/>
              <a:t>FAuNO</a:t>
            </a:r>
            <a:r>
              <a:rPr lang="en-IN" dirty="0"/>
              <a:t>: Semi-Asynchronous Federated Reinforcement Learning for Decentralized Task Offloading in Edge Systems. </a:t>
            </a:r>
            <a:r>
              <a:rPr lang="en-IN" dirty="0" err="1"/>
              <a:t>arXiv</a:t>
            </a:r>
            <a:r>
              <a:rPr lang="en-IN" dirty="0"/>
              <a:t> preprint arXiv:2506.02668. </a:t>
            </a:r>
          </a:p>
          <a:p>
            <a:pPr marL="342900" indent="-342900">
              <a:buFont typeface="+mj-lt"/>
              <a:buAutoNum type="arabicPeriod"/>
            </a:pPr>
            <a:endParaRPr lang="en-IN" dirty="0"/>
          </a:p>
          <a:p>
            <a:pPr marL="342900" indent="-342900">
              <a:buFont typeface="+mj-lt"/>
              <a:buAutoNum type="arabicPeriod"/>
            </a:pPr>
            <a:r>
              <a:rPr lang="en-IN" dirty="0"/>
              <a:t>Yu, C., Yang, C., Wu, H., &amp; Zhao, X. (2023). Meta-Reinforcement Learning for Task Offloading in IoT Edge Computing Systems with Wireless Charging. Applied Sciences, 13(11), 5412.</a:t>
            </a:r>
          </a:p>
          <a:p>
            <a:pPr marL="342900" indent="-342900">
              <a:buFont typeface="+mj-lt"/>
              <a:buAutoNum type="arabicPeriod"/>
            </a:pPr>
            <a:endParaRPr lang="en-IN" dirty="0"/>
          </a:p>
          <a:p>
            <a:pPr marL="342900" indent="-342900">
              <a:buFont typeface="+mj-lt"/>
              <a:buAutoNum type="arabicPeriod"/>
            </a:pPr>
            <a:r>
              <a:rPr lang="en-IN" dirty="0"/>
              <a:t>Lyu, L., Yu, H., </a:t>
            </a:r>
            <a:r>
              <a:rPr lang="en-IN" dirty="0" err="1"/>
              <a:t>Niyato</a:t>
            </a:r>
            <a:r>
              <a:rPr lang="en-IN" dirty="0"/>
              <a:t>, D., &amp; Li, C. (2020). Privacy-Preserving Federated Reinforcement Learning for Autonomous Driving. Sensors, 20(13), 359. </a:t>
            </a:r>
          </a:p>
          <a:p>
            <a:pPr marL="342900" indent="-342900">
              <a:buFont typeface="+mj-lt"/>
              <a:buAutoNum type="arabicPeriod"/>
            </a:pPr>
            <a:endParaRPr lang="en-IN" dirty="0"/>
          </a:p>
          <a:p>
            <a:pPr marL="342900" indent="-342900">
              <a:buFont typeface="+mj-lt"/>
              <a:buAutoNum type="arabicPeriod"/>
            </a:pPr>
            <a:r>
              <a:rPr lang="en-IN" dirty="0"/>
              <a:t>Sun, Y., Dai, H., Liu, W., &amp; Zhang, L. (2022). Federated Deep Reinforcement Learning for Task Offloading in Vehicular Edge Computing. Sensors, 22(9), 9595. </a:t>
            </a:r>
          </a:p>
        </p:txBody>
      </p:sp>
      <p:sp>
        <p:nvSpPr>
          <p:cNvPr id="10" name="Date Placeholder 3">
            <a:extLst>
              <a:ext uri="{FF2B5EF4-FFF2-40B4-BE49-F238E27FC236}">
                <a16:creationId xmlns:a16="http://schemas.microsoft.com/office/drawing/2014/main" id="{E115BBE8-9AD5-8D84-3BA5-316D1EDECDFF}"/>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1" name="Footer Placeholder 4">
            <a:extLst>
              <a:ext uri="{FF2B5EF4-FFF2-40B4-BE49-F238E27FC236}">
                <a16:creationId xmlns:a16="http://schemas.microsoft.com/office/drawing/2014/main" id="{771EB479-8D17-20B5-4E5E-3C7B064DCCEB}"/>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a:extLst>
              <a:ext uri="{FF2B5EF4-FFF2-40B4-BE49-F238E27FC236}">
                <a16:creationId xmlns:a16="http://schemas.microsoft.com/office/drawing/2014/main" id="{EB843B29-CD93-D47E-5922-AC6D22AC4611}"/>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15</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430380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CE45-99DF-1018-32F1-D6F76CD879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82A739-340E-9CE6-34D8-76FAA05C43A1}"/>
              </a:ext>
            </a:extLst>
          </p:cNvPr>
          <p:cNvSpPr txBox="1"/>
          <p:nvPr/>
        </p:nvSpPr>
        <p:spPr>
          <a:xfrm>
            <a:off x="470042" y="442057"/>
            <a:ext cx="6097712" cy="584775"/>
          </a:xfrm>
          <a:prstGeom prst="rect">
            <a:avLst/>
          </a:prstGeom>
          <a:noFill/>
        </p:spPr>
        <p:txBody>
          <a:bodyPr wrap="square">
            <a:spAutoFit/>
          </a:bodyPr>
          <a:lstStyle/>
          <a:p>
            <a:r>
              <a:rPr lang="en-IN" sz="3200" b="1" dirty="0">
                <a:latin typeface="Book Antiqua" panose="02040602050305030304" pitchFamily="18" charset="0"/>
              </a:rPr>
              <a:t>References</a:t>
            </a:r>
          </a:p>
        </p:txBody>
      </p:sp>
      <p:sp>
        <p:nvSpPr>
          <p:cNvPr id="5" name="TextBox 4">
            <a:extLst>
              <a:ext uri="{FF2B5EF4-FFF2-40B4-BE49-F238E27FC236}">
                <a16:creationId xmlns:a16="http://schemas.microsoft.com/office/drawing/2014/main" id="{57ED7B0A-5F75-C581-AD17-8D75A12B718A}"/>
              </a:ext>
            </a:extLst>
          </p:cNvPr>
          <p:cNvSpPr txBox="1"/>
          <p:nvPr/>
        </p:nvSpPr>
        <p:spPr>
          <a:xfrm>
            <a:off x="693475" y="1274972"/>
            <a:ext cx="11151683" cy="4247317"/>
          </a:xfrm>
          <a:prstGeom prst="rect">
            <a:avLst/>
          </a:prstGeom>
          <a:noFill/>
        </p:spPr>
        <p:txBody>
          <a:bodyPr wrap="square">
            <a:spAutoFit/>
          </a:bodyPr>
          <a:lstStyle/>
          <a:p>
            <a:pPr marL="342900" indent="-342900" algn="just">
              <a:buFont typeface="+mj-lt"/>
              <a:buAutoNum type="arabicPeriod" startAt="7"/>
            </a:pPr>
            <a:r>
              <a:rPr lang="en-IN" dirty="0"/>
              <a:t>Y. Zhu, Y. Hu, Y. Wang, X. Chen, R. Zhang, and Q. Qiu, “Federated Multi-Agent Actor-Critic Learning for Age-Sensitive Mobile Edge Computing,” </a:t>
            </a:r>
            <a:r>
              <a:rPr lang="en-IN" i="1" dirty="0" err="1"/>
              <a:t>arXiv</a:t>
            </a:r>
            <a:r>
              <a:rPr lang="en-IN" i="1" dirty="0"/>
              <a:t> preprint arXiv:2012.14137</a:t>
            </a:r>
            <a:r>
              <a:rPr lang="en-IN" dirty="0"/>
              <a:t>, 2020. </a:t>
            </a:r>
          </a:p>
          <a:p>
            <a:pPr marL="342900" indent="-342900" algn="just">
              <a:buFont typeface="+mj-lt"/>
              <a:buAutoNum type="arabicPeriod" startAt="7"/>
            </a:pPr>
            <a:endParaRPr lang="en-IN" dirty="0"/>
          </a:p>
          <a:p>
            <a:pPr marL="342900" indent="-342900" algn="just">
              <a:buFont typeface="+mj-lt"/>
              <a:buAutoNum type="arabicPeriod" startAt="7"/>
            </a:pPr>
            <a:r>
              <a:rPr lang="en-IN" dirty="0"/>
              <a:t>H. Li, T. Xu, X. Chen, Y. Guo, H. Zhang, Z. Chen, and H. He, “Federated Multi-Agent Deep Reinforcement Learning with Physics-Informed Reward for Multi-Microgrids Coordination,” </a:t>
            </a:r>
            <a:r>
              <a:rPr lang="en-IN" i="1" dirty="0" err="1"/>
              <a:t>arXiv</a:t>
            </a:r>
            <a:r>
              <a:rPr lang="en-IN" i="1" dirty="0"/>
              <a:t> preprint arXiv:2301.00641</a:t>
            </a:r>
            <a:r>
              <a:rPr lang="en-IN" dirty="0"/>
              <a:t>, 2023. </a:t>
            </a:r>
          </a:p>
          <a:p>
            <a:pPr marL="342900" indent="-342900" algn="just">
              <a:buFont typeface="+mj-lt"/>
              <a:buAutoNum type="arabicPeriod" startAt="7"/>
            </a:pPr>
            <a:endParaRPr lang="en-IN" dirty="0"/>
          </a:p>
          <a:p>
            <a:pPr marL="342900" indent="-342900" algn="just">
              <a:buFont typeface="+mj-lt"/>
              <a:buAutoNum type="arabicPeriod" startAt="7"/>
            </a:pPr>
            <a:r>
              <a:rPr lang="en-IN" dirty="0"/>
              <a:t>D. </a:t>
            </a:r>
            <a:r>
              <a:rPr lang="en-IN" dirty="0" err="1"/>
              <a:t>Metelo</a:t>
            </a:r>
            <a:r>
              <a:rPr lang="en-IN" dirty="0"/>
              <a:t>, O. Belo, and D. Gomes, “</a:t>
            </a:r>
            <a:r>
              <a:rPr lang="en-IN" dirty="0" err="1"/>
              <a:t>FAuNO</a:t>
            </a:r>
            <a:r>
              <a:rPr lang="en-IN" dirty="0"/>
              <a:t>: Semi-Asynchronous Federated Reinforcement Learning for Decentralized Task Offloading in Edge Systems,” </a:t>
            </a:r>
            <a:r>
              <a:rPr lang="en-IN" i="1" dirty="0" err="1"/>
              <a:t>arXiv</a:t>
            </a:r>
            <a:r>
              <a:rPr lang="en-IN" i="1" dirty="0"/>
              <a:t> preprint arXiv:2506.02668</a:t>
            </a:r>
            <a:r>
              <a:rPr lang="en-IN" dirty="0"/>
              <a:t>, 2025. </a:t>
            </a:r>
          </a:p>
          <a:p>
            <a:pPr marL="342900" indent="-342900" algn="just">
              <a:buFont typeface="+mj-lt"/>
              <a:buAutoNum type="arabicPeriod" startAt="7"/>
            </a:pPr>
            <a:endParaRPr lang="en-IN" dirty="0"/>
          </a:p>
          <a:p>
            <a:pPr marL="342900" indent="-342900" algn="just">
              <a:buFont typeface="+mj-lt"/>
              <a:buAutoNum type="arabicPeriod" startAt="7"/>
            </a:pPr>
            <a:r>
              <a:rPr lang="en-IN" dirty="0"/>
              <a:t>C. Yu, C. Yang, H. Wu, and X. Zhao, “Meta-Reinforcement Learning for Task Offloading in IoT Edge Computing Systems with Wireless Charging,” </a:t>
            </a:r>
            <a:r>
              <a:rPr lang="en-IN" i="1" dirty="0"/>
              <a:t>Applied Sciences</a:t>
            </a:r>
            <a:r>
              <a:rPr lang="en-IN" dirty="0"/>
              <a:t>, vol. 13, no. 11, p. 5412, 2023, </a:t>
            </a:r>
            <a:r>
              <a:rPr lang="en-IN" dirty="0" err="1"/>
              <a:t>doi</a:t>
            </a:r>
            <a:r>
              <a:rPr lang="en-IN" dirty="0"/>
              <a:t>: 10.3390/app13105412.</a:t>
            </a:r>
          </a:p>
          <a:p>
            <a:pPr marL="342900" indent="-342900" algn="just">
              <a:buFont typeface="+mj-lt"/>
              <a:buAutoNum type="arabicPeriod" startAt="7"/>
            </a:pPr>
            <a:endParaRPr lang="en-IN" dirty="0"/>
          </a:p>
          <a:p>
            <a:pPr marL="342900" indent="-342900" algn="just">
              <a:buFont typeface="+mj-lt"/>
              <a:buAutoNum type="arabicPeriod" startAt="7"/>
            </a:pPr>
            <a:r>
              <a:rPr lang="en-IN" dirty="0"/>
              <a:t>L. Lyu, H. Yu, D. </a:t>
            </a:r>
            <a:r>
              <a:rPr lang="en-IN" dirty="0" err="1"/>
              <a:t>Niyato</a:t>
            </a:r>
            <a:r>
              <a:rPr lang="en-IN" dirty="0"/>
              <a:t>, and C. Li, “Privacy-Preserving Federated Reinforcement Learning for Autonomous Driving,” </a:t>
            </a:r>
            <a:r>
              <a:rPr lang="en-IN" i="1" dirty="0"/>
              <a:t>Sensors</a:t>
            </a:r>
            <a:r>
              <a:rPr lang="en-IN" dirty="0"/>
              <a:t>, vol. 20, no. 13, p. 359, 2020, </a:t>
            </a:r>
            <a:r>
              <a:rPr lang="en-IN" dirty="0" err="1"/>
              <a:t>doi</a:t>
            </a:r>
            <a:r>
              <a:rPr lang="en-IN" dirty="0"/>
              <a:t>: 10.3390/s2001359.</a:t>
            </a:r>
          </a:p>
          <a:p>
            <a:pPr marL="342900" indent="-342900" algn="just">
              <a:buFont typeface="+mj-lt"/>
              <a:buAutoNum type="arabicPeriod" startAt="7"/>
            </a:pPr>
            <a:endParaRPr lang="en-IN" dirty="0"/>
          </a:p>
        </p:txBody>
      </p:sp>
      <p:sp>
        <p:nvSpPr>
          <p:cNvPr id="10" name="Date Placeholder 3">
            <a:extLst>
              <a:ext uri="{FF2B5EF4-FFF2-40B4-BE49-F238E27FC236}">
                <a16:creationId xmlns:a16="http://schemas.microsoft.com/office/drawing/2014/main" id="{DA877E9A-5C96-5386-BCFE-45A39916E2D2}"/>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1" name="Footer Placeholder 4">
            <a:extLst>
              <a:ext uri="{FF2B5EF4-FFF2-40B4-BE49-F238E27FC236}">
                <a16:creationId xmlns:a16="http://schemas.microsoft.com/office/drawing/2014/main" id="{57799511-80BE-CA37-632E-45A6EDFB8129}"/>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a:extLst>
              <a:ext uri="{FF2B5EF4-FFF2-40B4-BE49-F238E27FC236}">
                <a16:creationId xmlns:a16="http://schemas.microsoft.com/office/drawing/2014/main" id="{5AD1691D-B219-B327-4D52-D2D16F1FFAED}"/>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16</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869889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C2933E-AB42-4159-1EFD-4E90435B8F04}"/>
              </a:ext>
            </a:extLst>
          </p:cNvPr>
          <p:cNvSpPr txBox="1"/>
          <p:nvPr/>
        </p:nvSpPr>
        <p:spPr>
          <a:xfrm>
            <a:off x="4214545" y="2599630"/>
            <a:ext cx="3762910" cy="585359"/>
          </a:xfrm>
          <a:prstGeom prst="rect">
            <a:avLst/>
          </a:prstGeom>
          <a:noFill/>
        </p:spPr>
        <p:txBody>
          <a:bodyPr wrap="square">
            <a:spAutoFit/>
          </a:bodyPr>
          <a:lstStyle/>
          <a:p>
            <a:r>
              <a:rPr lang="en-IN" sz="3200" b="1" dirty="0">
                <a:latin typeface="Book Antiqua" panose="02040602050305030304" pitchFamily="18" charset="0"/>
              </a:rPr>
              <a:t>“Thank You” </a:t>
            </a:r>
          </a:p>
        </p:txBody>
      </p:sp>
      <p:sp>
        <p:nvSpPr>
          <p:cNvPr id="9" name="Date Placeholder 3">
            <a:extLst>
              <a:ext uri="{FF2B5EF4-FFF2-40B4-BE49-F238E27FC236}">
                <a16:creationId xmlns:a16="http://schemas.microsoft.com/office/drawing/2014/main" id="{DB35C752-1BC6-0C13-884D-8DB0FF6D501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933567D-5EE0-40A0-B82F-9ED3A38CE16E}" type="datetimeFigureOut">
              <a:rPr lang="en-IN" sz="1200" smtClean="0">
                <a:solidFill>
                  <a:schemeClr val="accent3"/>
                </a:solidFill>
                <a:latin typeface="Aptos" panose="020B0004020202020204" pitchFamily="34" charset="0"/>
              </a:rPr>
              <a:pPr/>
              <a:t>12-10-2025</a:t>
            </a:fld>
            <a:endParaRPr lang="en-IN" sz="1200" dirty="0">
              <a:solidFill>
                <a:schemeClr val="accent3"/>
              </a:solidFill>
              <a:latin typeface="Aptos" panose="020B0004020202020204" pitchFamily="34" charset="0"/>
            </a:endParaRPr>
          </a:p>
        </p:txBody>
      </p:sp>
      <p:sp>
        <p:nvSpPr>
          <p:cNvPr id="10" name="Footer Placeholder 4">
            <a:extLst>
              <a:ext uri="{FF2B5EF4-FFF2-40B4-BE49-F238E27FC236}">
                <a16:creationId xmlns:a16="http://schemas.microsoft.com/office/drawing/2014/main" id="{03B936E0-3D39-1842-927E-CF20081476B6}"/>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056EF318-D93C-033A-0B08-0C5A1191EAB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17</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09695747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969</TotalTime>
  <Words>1910</Words>
  <Application>Microsoft Office PowerPoint</Application>
  <PresentationFormat>Widescreen</PresentationFormat>
  <Paragraphs>205</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Book Antiqua</vt:lpstr>
      <vt:lpstr>Bookman Old Style</vt:lpstr>
      <vt:lpstr>Calibri</vt:lpstr>
      <vt:lpstr>Calibri Light</vt:lpstr>
      <vt:lpstr>Retrospect</vt:lpstr>
      <vt:lpstr>RSO-Optimized Federated Multi-Agent Actor-Critic RL for IoT Edge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Nikhila Sreekanth</dc:creator>
  <cp:lastModifiedBy>shailesh balla</cp:lastModifiedBy>
  <cp:revision>14</cp:revision>
  <dcterms:created xsi:type="dcterms:W3CDTF">2025-07-20T13:06:57Z</dcterms:created>
  <dcterms:modified xsi:type="dcterms:W3CDTF">2025-10-12T18:01:58Z</dcterms:modified>
</cp:coreProperties>
</file>